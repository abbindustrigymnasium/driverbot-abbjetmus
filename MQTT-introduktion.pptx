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Gill Sans MT"/>
        <a:ea typeface="Gill Sans MT"/>
        <a:cs typeface="Gill Sans MT"/>
        <a:sym typeface="Gill Sans MT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Gill Sans MT"/>
        <a:ea typeface="Gill Sans MT"/>
        <a:cs typeface="Gill Sans MT"/>
        <a:sym typeface="Gill Sans MT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Gill Sans MT"/>
        <a:ea typeface="Gill Sans MT"/>
        <a:cs typeface="Gill Sans MT"/>
        <a:sym typeface="Gill Sans MT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Gill Sans MT"/>
        <a:ea typeface="Gill Sans MT"/>
        <a:cs typeface="Gill Sans MT"/>
        <a:sym typeface="Gill Sans MT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Gill Sans MT"/>
        <a:ea typeface="Gill Sans MT"/>
        <a:cs typeface="Gill Sans MT"/>
        <a:sym typeface="Gill Sans MT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Gill Sans MT"/>
        <a:ea typeface="Gill Sans MT"/>
        <a:cs typeface="Gill Sans MT"/>
        <a:sym typeface="Gill Sans MT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Gill Sans MT"/>
        <a:ea typeface="Gill Sans MT"/>
        <a:cs typeface="Gill Sans MT"/>
        <a:sym typeface="Gill Sans MT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Gill Sans MT"/>
        <a:ea typeface="Gill Sans MT"/>
        <a:cs typeface="Gill Sans MT"/>
        <a:sym typeface="Gill Sans MT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Gill Sans MT"/>
        <a:ea typeface="Gill Sans MT"/>
        <a:cs typeface="Gill Sans MT"/>
        <a:sym typeface="Gill Sans M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Gill Sans MT"/>
          <a:ea typeface="Gill Sans MT"/>
          <a:cs typeface="Gill Sans M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CCD1"/>
          </a:solidFill>
        </a:fill>
      </a:tcStyle>
    </a:wholeTbl>
    <a:band2H>
      <a:tcTxStyle b="def" i="def"/>
      <a:tcStyle>
        <a:tcBdr/>
        <a:fill>
          <a:solidFill>
            <a:srgbClr val="E7E7E9"/>
          </a:solidFill>
        </a:fill>
      </a:tcStyle>
    </a:band2H>
    <a:firstCol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Gill Sans MT"/>
          <a:ea typeface="Gill Sans MT"/>
          <a:cs typeface="Gill Sans M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EECF6"/>
          </a:solidFill>
        </a:fill>
      </a:tcStyle>
    </a:wholeTbl>
    <a:band2H>
      <a:tcTxStyle b="def" i="def"/>
      <a:tcStyle>
        <a:tcBdr/>
        <a:fill>
          <a:solidFill>
            <a:srgbClr val="E8F6FB"/>
          </a:solidFill>
        </a:fill>
      </a:tcStyle>
    </a:band2H>
    <a:firstCol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ill Sans MT"/>
          <a:ea typeface="Gill Sans MT"/>
          <a:cs typeface="Gill Sans M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CD1"/>
          </a:solidFill>
        </a:fill>
      </a:tcStyle>
    </a:wholeTbl>
    <a:band2H>
      <a:tcTxStyle b="def" i="def"/>
      <a:tcStyle>
        <a:tcBdr/>
        <a:fill>
          <a:solidFill>
            <a:srgbClr val="E8EEE9"/>
          </a:solidFill>
        </a:fill>
      </a:tcStyle>
    </a:band2H>
    <a:firstCol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ill Sans MT"/>
          <a:ea typeface="Gill Sans MT"/>
          <a:cs typeface="Gill Sans M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Gill Sans MT"/>
          <a:ea typeface="Gill Sans MT"/>
          <a:cs typeface="Gill Sans M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ill Sans MT"/>
          <a:ea typeface="Gill Sans MT"/>
          <a:cs typeface="Gill Sans M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ill Sans MT"/>
          <a:ea typeface="Gill Sans MT"/>
          <a:cs typeface="Gill Sans M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Gill Sans MT"/>
          <a:ea typeface="Gill Sans MT"/>
          <a:cs typeface="Gill Sans M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Gill Sans MT"/>
          <a:ea typeface="Gill Sans MT"/>
          <a:cs typeface="Gill Sans M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Gill Sans MT"/>
          <a:ea typeface="Gill Sans MT"/>
          <a:cs typeface="Gill Sans M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6" name="Shape 126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8" name="Shape 14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Genomgång av MQTT för Driverbot- och IoT-projekten. Repot: github.com/abbindustrigymnasium/driverbot-abbjetmus. Demon längst bak (chatt + lampa) kräver skolans broker igång och en flashad ESP8266.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15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4" name="Shape 15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Fråga klassen: hur skulle en webbsida få veta att en sensor ändrats med HTTP? (Polla — fråga om och om igen.) MQTT vänder på det: sensorn säger till.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18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6" name="Shape 18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Kärnbilden. Betona att brokern inte bryr sig om innehållet — bara topic-strängen.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6" name="Shape 19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Demo: mosquitto_sub -t "fornamn/#" -v i en terminal, publicera från en annan.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hape 22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4" name="Shape 22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Brokern är en Eclipse Mosquitto 2 på CapRover. Konfigurationen ligger i repot under mosquitto-broker/. Ingen inloggning: medvetet för enkelhet. Klienter som ändå skickar användarnamn/lösenord accepteras.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23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8" name="Shape 23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Hela sketchen med chatt-svar finns i mqtt_arduino.ino i repot.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6" name="Shape 24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Quasar-varianten med återanslutning och status finns i quasar-mqtt/src/boot/mqtt-boot.js.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Shape 27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2" name="Shape 27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Live-demo: kör quasar dev, flasha ESP:n, skriv on/off/status i chatten. Poängen: samma topic, tre klienter, ingen vet om den andra.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Shape 28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1" name="Shape 28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Bra diskussionsfråga: vad kan gå fel om en robotdammsugares MQTT-broker är öppen?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8"/>
          <p:cNvSpPr/>
          <p:nvPr/>
        </p:nvSpPr>
        <p:spPr>
          <a:xfrm>
            <a:off x="446533" y="457200"/>
            <a:ext cx="3703322" cy="94997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" name="Rectangle 9"/>
          <p:cNvSpPr/>
          <p:nvPr/>
        </p:nvSpPr>
        <p:spPr>
          <a:xfrm>
            <a:off x="8042147" y="453642"/>
            <a:ext cx="3703321" cy="98555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" name="Rectangle 10"/>
          <p:cNvSpPr/>
          <p:nvPr/>
        </p:nvSpPr>
        <p:spPr>
          <a:xfrm>
            <a:off x="4241829" y="457200"/>
            <a:ext cx="3703321" cy="91441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" name="Rectangle 6"/>
          <p:cNvSpPr/>
          <p:nvPr/>
        </p:nvSpPr>
        <p:spPr>
          <a:xfrm>
            <a:off x="446533" y="3085764"/>
            <a:ext cx="11262867" cy="33048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" name="Title Text"/>
          <p:cNvSpPr txBox="1"/>
          <p:nvPr>
            <p:ph type="title"/>
          </p:nvPr>
        </p:nvSpPr>
        <p:spPr>
          <a:xfrm>
            <a:off x="581190" y="1020431"/>
            <a:ext cx="10993551" cy="1475013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0" name="Body Level One…"/>
          <p:cNvSpPr txBox="1"/>
          <p:nvPr>
            <p:ph type="body" sz="quarter" idx="1"/>
          </p:nvPr>
        </p:nvSpPr>
        <p:spPr>
          <a:xfrm>
            <a:off x="581193" y="2495444"/>
            <a:ext cx="10993548" cy="590322"/>
          </a:xfrm>
          <a:prstGeom prst="rect">
            <a:avLst/>
          </a:prstGeom>
        </p:spPr>
        <p:txBody>
          <a:bodyPr anchor="t"/>
          <a:lstStyle>
            <a:lvl1pPr marL="0" indent="0">
              <a:buClrTx/>
              <a:buSzTx/>
              <a:buNone/>
              <a:defRPr cap="all" sz="1600">
                <a:solidFill>
                  <a:schemeClr val="accent2"/>
                </a:solidFill>
              </a:defRPr>
            </a:lvl1pPr>
            <a:lvl2pPr marL="0" indent="457200">
              <a:buClrTx/>
              <a:buSzTx/>
              <a:buNone/>
              <a:defRPr cap="all" sz="1600">
                <a:solidFill>
                  <a:schemeClr val="accent2"/>
                </a:solidFill>
              </a:defRPr>
            </a:lvl2pPr>
            <a:lvl3pPr marL="0" indent="914400">
              <a:buClrTx/>
              <a:buSzTx/>
              <a:buNone/>
              <a:defRPr cap="all" sz="1600">
                <a:solidFill>
                  <a:schemeClr val="accent2"/>
                </a:solidFill>
              </a:defRPr>
            </a:lvl3pPr>
            <a:lvl4pPr marL="0" indent="1371600">
              <a:buClrTx/>
              <a:buSzTx/>
              <a:buNone/>
              <a:defRPr cap="all" sz="1600">
                <a:solidFill>
                  <a:schemeClr val="accent2"/>
                </a:solidFill>
              </a:defRPr>
            </a:lvl4pPr>
            <a:lvl5pPr marL="0" indent="1828800">
              <a:buClrTx/>
              <a:buSzTx/>
              <a:buNone/>
              <a:defRPr cap="all" sz="1600">
                <a:solidFill>
                  <a:schemeClr val="accent2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1" name="Slide Number"/>
          <p:cNvSpPr txBox="1"/>
          <p:nvPr>
            <p:ph type="sldNum" sz="quarter" idx="2"/>
          </p:nvPr>
        </p:nvSpPr>
        <p:spPr>
          <a:xfrm>
            <a:off x="11343463" y="6023129"/>
            <a:ext cx="231278" cy="23114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2F5AAC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8"/>
          <p:cNvSpPr/>
          <p:nvPr/>
        </p:nvSpPr>
        <p:spPr>
          <a:xfrm>
            <a:off x="446533" y="457200"/>
            <a:ext cx="3703322" cy="94997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" name="Rectangle 9"/>
          <p:cNvSpPr/>
          <p:nvPr/>
        </p:nvSpPr>
        <p:spPr>
          <a:xfrm>
            <a:off x="8042147" y="453642"/>
            <a:ext cx="3703321" cy="98555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" name="Rectangle 10"/>
          <p:cNvSpPr/>
          <p:nvPr/>
        </p:nvSpPr>
        <p:spPr>
          <a:xfrm>
            <a:off x="4241829" y="457200"/>
            <a:ext cx="3703321" cy="91441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" name="Rectangle 6"/>
          <p:cNvSpPr/>
          <p:nvPr/>
        </p:nvSpPr>
        <p:spPr>
          <a:xfrm>
            <a:off x="440285" y="614407"/>
            <a:ext cx="11309340" cy="118929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" name="Title Text"/>
          <p:cNvSpPr txBox="1"/>
          <p:nvPr>
            <p:ph type="title"/>
          </p:nvPr>
        </p:nvSpPr>
        <p:spPr>
          <a:xfrm>
            <a:off x="581191" y="702155"/>
            <a:ext cx="11029617" cy="1013802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3" name="Body Level One…"/>
          <p:cNvSpPr txBox="1"/>
          <p:nvPr>
            <p:ph type="body" idx="1"/>
          </p:nvPr>
        </p:nvSpPr>
        <p:spPr>
          <a:xfrm>
            <a:off x="581191" y="2180495"/>
            <a:ext cx="11029617" cy="3678304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" name="Slide Number"/>
          <p:cNvSpPr txBox="1"/>
          <p:nvPr>
            <p:ph type="sldNum" sz="quarter" idx="2"/>
          </p:nvPr>
        </p:nvSpPr>
        <p:spPr>
          <a:xfrm>
            <a:off x="11379531" y="6023129"/>
            <a:ext cx="231277" cy="2311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8"/>
          <p:cNvSpPr/>
          <p:nvPr/>
        </p:nvSpPr>
        <p:spPr>
          <a:xfrm>
            <a:off x="446533" y="457200"/>
            <a:ext cx="3703322" cy="94997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" name="Rectangle 9"/>
          <p:cNvSpPr/>
          <p:nvPr/>
        </p:nvSpPr>
        <p:spPr>
          <a:xfrm>
            <a:off x="8042147" y="453642"/>
            <a:ext cx="3703321" cy="98555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" name="Rectangle 10"/>
          <p:cNvSpPr/>
          <p:nvPr/>
        </p:nvSpPr>
        <p:spPr>
          <a:xfrm>
            <a:off x="4241829" y="457200"/>
            <a:ext cx="3703321" cy="91441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" name="Rectangle 7"/>
          <p:cNvSpPr/>
          <p:nvPr/>
        </p:nvSpPr>
        <p:spPr>
          <a:xfrm>
            <a:off x="447816" y="5141974"/>
            <a:ext cx="11290862" cy="125882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5" name="Title Text"/>
          <p:cNvSpPr txBox="1"/>
          <p:nvPr>
            <p:ph type="title"/>
          </p:nvPr>
        </p:nvSpPr>
        <p:spPr>
          <a:xfrm>
            <a:off x="581193" y="3043909"/>
            <a:ext cx="11029616" cy="1497508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46" name="Body Level One…"/>
          <p:cNvSpPr txBox="1"/>
          <p:nvPr>
            <p:ph type="body" sz="quarter" idx="1"/>
          </p:nvPr>
        </p:nvSpPr>
        <p:spPr>
          <a:xfrm>
            <a:off x="581191" y="4541416"/>
            <a:ext cx="11029617" cy="600557"/>
          </a:xfrm>
          <a:prstGeom prst="rect">
            <a:avLst/>
          </a:prstGeom>
        </p:spPr>
        <p:txBody>
          <a:bodyPr anchor="t"/>
          <a:lstStyle>
            <a:lvl1pPr marL="0" indent="0">
              <a:buClrTx/>
              <a:buSzTx/>
              <a:buNone/>
              <a:defRPr cap="all">
                <a:solidFill>
                  <a:schemeClr val="accent2"/>
                </a:solidFill>
              </a:defRPr>
            </a:lvl1pPr>
            <a:lvl2pPr marL="0" indent="457200">
              <a:buClrTx/>
              <a:buSzTx/>
              <a:buNone/>
              <a:defRPr cap="all">
                <a:solidFill>
                  <a:schemeClr val="accent2"/>
                </a:solidFill>
              </a:defRPr>
            </a:lvl2pPr>
            <a:lvl3pPr marL="0" indent="914400">
              <a:buClrTx/>
              <a:buSzTx/>
              <a:buNone/>
              <a:defRPr cap="all">
                <a:solidFill>
                  <a:schemeClr val="accent2"/>
                </a:solidFill>
              </a:defRPr>
            </a:lvl3pPr>
            <a:lvl4pPr marL="0" indent="1371600">
              <a:buClrTx/>
              <a:buSzTx/>
              <a:buNone/>
              <a:defRPr cap="all">
                <a:solidFill>
                  <a:schemeClr val="accent2"/>
                </a:solidFill>
              </a:defRPr>
            </a:lvl4pPr>
            <a:lvl5pPr marL="0" indent="1828800">
              <a:buClrTx/>
              <a:buSzTx/>
              <a:buNone/>
              <a:defRPr cap="all">
                <a:solidFill>
                  <a:schemeClr val="accent2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2F5AAC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8"/>
          <p:cNvSpPr/>
          <p:nvPr/>
        </p:nvSpPr>
        <p:spPr>
          <a:xfrm>
            <a:off x="446533" y="457200"/>
            <a:ext cx="3703322" cy="94997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" name="Rectangle 9"/>
          <p:cNvSpPr/>
          <p:nvPr/>
        </p:nvSpPr>
        <p:spPr>
          <a:xfrm>
            <a:off x="8042147" y="453642"/>
            <a:ext cx="3703321" cy="98555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" name="Rectangle 10"/>
          <p:cNvSpPr/>
          <p:nvPr/>
        </p:nvSpPr>
        <p:spPr>
          <a:xfrm>
            <a:off x="4241829" y="457200"/>
            <a:ext cx="3703321" cy="91441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" name="Rectangle 7"/>
          <p:cNvSpPr/>
          <p:nvPr/>
        </p:nvSpPr>
        <p:spPr>
          <a:xfrm>
            <a:off x="445982" y="606554"/>
            <a:ext cx="11300036" cy="125882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8" name="Title Text"/>
          <p:cNvSpPr txBox="1"/>
          <p:nvPr>
            <p:ph type="title"/>
          </p:nvPr>
        </p:nvSpPr>
        <p:spPr>
          <a:xfrm>
            <a:off x="581193" y="729657"/>
            <a:ext cx="11029616" cy="988334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9" name="Body Level One…"/>
          <p:cNvSpPr txBox="1"/>
          <p:nvPr>
            <p:ph type="body" sz="half" idx="1"/>
          </p:nvPr>
        </p:nvSpPr>
        <p:spPr>
          <a:xfrm>
            <a:off x="581193" y="2228002"/>
            <a:ext cx="5422390" cy="363304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8"/>
          <p:cNvSpPr/>
          <p:nvPr/>
        </p:nvSpPr>
        <p:spPr>
          <a:xfrm>
            <a:off x="446533" y="457200"/>
            <a:ext cx="3703322" cy="94997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" name="Rectangle 9"/>
          <p:cNvSpPr/>
          <p:nvPr/>
        </p:nvSpPr>
        <p:spPr>
          <a:xfrm>
            <a:off x="8042147" y="453642"/>
            <a:ext cx="3703321" cy="98555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9" name="Rectangle 10"/>
          <p:cNvSpPr/>
          <p:nvPr/>
        </p:nvSpPr>
        <p:spPr>
          <a:xfrm>
            <a:off x="4241829" y="457200"/>
            <a:ext cx="3703321" cy="91441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" name="Rectangle 10"/>
          <p:cNvSpPr/>
          <p:nvPr/>
        </p:nvSpPr>
        <p:spPr>
          <a:xfrm>
            <a:off x="445982" y="606554"/>
            <a:ext cx="11300036" cy="125882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Title Text"/>
          <p:cNvSpPr txBox="1"/>
          <p:nvPr>
            <p:ph type="title"/>
          </p:nvPr>
        </p:nvSpPr>
        <p:spPr>
          <a:xfrm>
            <a:off x="581193" y="729657"/>
            <a:ext cx="11029616" cy="988334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72" name="Body Level One…"/>
          <p:cNvSpPr txBox="1"/>
          <p:nvPr>
            <p:ph type="body" sz="quarter" idx="1"/>
          </p:nvPr>
        </p:nvSpPr>
        <p:spPr>
          <a:xfrm>
            <a:off x="887219" y="2250892"/>
            <a:ext cx="5087076" cy="536006"/>
          </a:xfrm>
          <a:prstGeom prst="rect">
            <a:avLst/>
          </a:prstGeom>
        </p:spPr>
        <p:txBody>
          <a:bodyPr anchor="b"/>
          <a:lstStyle>
            <a:lvl1pPr marL="0" indent="0">
              <a:buClrTx/>
              <a:buSzTx/>
              <a:buNone/>
              <a:defRPr sz="2200">
                <a:solidFill>
                  <a:schemeClr val="accent2"/>
                </a:solidFill>
              </a:defRPr>
            </a:lvl1pPr>
            <a:lvl2pPr marL="0" indent="457200">
              <a:buClrTx/>
              <a:buSzTx/>
              <a:buNone/>
              <a:defRPr sz="2200">
                <a:solidFill>
                  <a:schemeClr val="accent2"/>
                </a:solidFill>
              </a:defRPr>
            </a:lvl2pPr>
            <a:lvl3pPr marL="0" indent="914400">
              <a:buClrTx/>
              <a:buSzTx/>
              <a:buNone/>
              <a:defRPr sz="2200">
                <a:solidFill>
                  <a:schemeClr val="accent2"/>
                </a:solidFill>
              </a:defRPr>
            </a:lvl3pPr>
            <a:lvl4pPr marL="0" indent="1371600">
              <a:buClrTx/>
              <a:buSzTx/>
              <a:buNone/>
              <a:defRPr sz="2200">
                <a:solidFill>
                  <a:schemeClr val="accent2"/>
                </a:solidFill>
              </a:defRPr>
            </a:lvl4pPr>
            <a:lvl5pPr marL="0" indent="1828800">
              <a:buClrTx/>
              <a:buSzTx/>
              <a:buNone/>
              <a:defRPr sz="2200">
                <a:solidFill>
                  <a:schemeClr val="accent2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3" name="Text Placeholder 4"/>
          <p:cNvSpPr/>
          <p:nvPr>
            <p:ph type="body" sz="quarter" idx="21"/>
          </p:nvPr>
        </p:nvSpPr>
        <p:spPr>
          <a:xfrm>
            <a:off x="6523735" y="2250892"/>
            <a:ext cx="5087073" cy="553374"/>
          </a:xfrm>
          <a:prstGeom prst="rect">
            <a:avLst/>
          </a:prstGeom>
        </p:spPr>
        <p:txBody>
          <a:bodyPr anchor="b"/>
          <a:lstStyle/>
          <a:p>
            <a:pPr marL="0" indent="0">
              <a:buClrTx/>
              <a:buSzTx/>
              <a:buNone/>
              <a:defRPr sz="2200">
                <a:solidFill>
                  <a:schemeClr val="accent2"/>
                </a:solidFill>
              </a:defRPr>
            </a:pP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8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8"/>
          <p:cNvSpPr/>
          <p:nvPr/>
        </p:nvSpPr>
        <p:spPr>
          <a:xfrm>
            <a:off x="446533" y="457200"/>
            <a:ext cx="3703322" cy="94997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0" name="Rectangle 9"/>
          <p:cNvSpPr/>
          <p:nvPr/>
        </p:nvSpPr>
        <p:spPr>
          <a:xfrm>
            <a:off x="8042147" y="453642"/>
            <a:ext cx="3703321" cy="98555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1" name="Rectangle 10"/>
          <p:cNvSpPr/>
          <p:nvPr/>
        </p:nvSpPr>
        <p:spPr>
          <a:xfrm>
            <a:off x="4241829" y="457200"/>
            <a:ext cx="3703321" cy="91441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8"/>
          <p:cNvSpPr/>
          <p:nvPr/>
        </p:nvSpPr>
        <p:spPr>
          <a:xfrm>
            <a:off x="446533" y="457200"/>
            <a:ext cx="3703322" cy="94997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" name="Rectangle 9"/>
          <p:cNvSpPr/>
          <p:nvPr/>
        </p:nvSpPr>
        <p:spPr>
          <a:xfrm>
            <a:off x="8042147" y="453642"/>
            <a:ext cx="3703321" cy="98555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" name="Rectangle 10"/>
          <p:cNvSpPr/>
          <p:nvPr/>
        </p:nvSpPr>
        <p:spPr>
          <a:xfrm>
            <a:off x="4241829" y="457200"/>
            <a:ext cx="3703321" cy="91441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2" name="Rectangle 8"/>
          <p:cNvSpPr/>
          <p:nvPr/>
        </p:nvSpPr>
        <p:spPr>
          <a:xfrm>
            <a:off x="447816" y="5141972"/>
            <a:ext cx="11298202" cy="1274703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3" name="Title Text"/>
          <p:cNvSpPr txBox="1"/>
          <p:nvPr>
            <p:ph type="title"/>
          </p:nvPr>
        </p:nvSpPr>
        <p:spPr>
          <a:xfrm>
            <a:off x="581191" y="5262295"/>
            <a:ext cx="4909446" cy="689515"/>
          </a:xfrm>
          <a:prstGeom prst="rect">
            <a:avLst/>
          </a:prstGeom>
        </p:spPr>
        <p:txBody>
          <a:bodyPr anchor="ctr"/>
          <a:lstStyle>
            <a:lvl1pPr>
              <a:defRPr sz="2000">
                <a:solidFill>
                  <a:srgbClr val="2F5AAC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04" name="Body Level One…"/>
          <p:cNvSpPr txBox="1"/>
          <p:nvPr>
            <p:ph type="body" idx="1"/>
          </p:nvPr>
        </p:nvSpPr>
        <p:spPr>
          <a:xfrm>
            <a:off x="447815" y="601199"/>
            <a:ext cx="11292842" cy="4204801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 marL="663999" indent="-339999">
              <a:defRPr sz="2000"/>
            </a:lvl2pPr>
            <a:lvl3pPr marL="967500" indent="-337500">
              <a:defRPr sz="2000"/>
            </a:lvl3pPr>
            <a:lvl4pPr marL="1342285" indent="-334285">
              <a:defRPr sz="2000"/>
            </a:lvl4pPr>
            <a:lvl5pPr marL="1702285" indent="-334285">
              <a:defRPr sz="20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5" name="Text Placeholder 3"/>
          <p:cNvSpPr/>
          <p:nvPr>
            <p:ph type="body" sz="quarter" idx="21"/>
          </p:nvPr>
        </p:nvSpPr>
        <p:spPr>
          <a:xfrm>
            <a:off x="5740822" y="5262295"/>
            <a:ext cx="5869988" cy="689516"/>
          </a:xfrm>
          <a:prstGeom prst="rect">
            <a:avLst/>
          </a:prstGeom>
        </p:spPr>
        <p:txBody>
          <a:bodyPr/>
          <a:lstStyle/>
          <a:p>
            <a:pPr marL="0" indent="0" algn="r">
              <a:buClrTx/>
              <a:buSzTx/>
              <a:buNone/>
              <a:defRPr sz="1100">
                <a:solidFill>
                  <a:srgbClr val="FFFFFF"/>
                </a:solidFill>
              </a:defRPr>
            </a:pPr>
          </a:p>
        </p:txBody>
      </p:sp>
      <p:sp>
        <p:nvSpPr>
          <p:cNvPr id="10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2F5AAC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8"/>
          <p:cNvSpPr/>
          <p:nvPr/>
        </p:nvSpPr>
        <p:spPr>
          <a:xfrm>
            <a:off x="446533" y="457200"/>
            <a:ext cx="3703322" cy="94997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" name="Rectangle 9"/>
          <p:cNvSpPr/>
          <p:nvPr/>
        </p:nvSpPr>
        <p:spPr>
          <a:xfrm>
            <a:off x="8042147" y="453642"/>
            <a:ext cx="3703321" cy="98555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" name="Rectangle 10"/>
          <p:cNvSpPr/>
          <p:nvPr/>
        </p:nvSpPr>
        <p:spPr>
          <a:xfrm>
            <a:off x="4241829" y="457200"/>
            <a:ext cx="3703321" cy="91441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" name="Title Text"/>
          <p:cNvSpPr txBox="1"/>
          <p:nvPr>
            <p:ph type="title"/>
          </p:nvPr>
        </p:nvSpPr>
        <p:spPr>
          <a:xfrm>
            <a:off x="581193" y="4693389"/>
            <a:ext cx="11029616" cy="566739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17" name="Picture Placeholder 2"/>
          <p:cNvSpPr/>
          <p:nvPr>
            <p:ph type="pic" idx="21"/>
          </p:nvPr>
        </p:nvSpPr>
        <p:spPr>
          <a:xfrm>
            <a:off x="447816" y="599725"/>
            <a:ext cx="11290860" cy="3557252"/>
          </a:xfrm>
          <a:prstGeom prst="rect">
            <a:avLst/>
          </a:prstGeom>
        </p:spPr>
        <p:txBody>
          <a:bodyPr lIns="91439" rIns="91439" anchor="t">
            <a:noAutofit/>
          </a:bodyPr>
          <a:lstStyle/>
          <a:p>
            <a:pPr/>
          </a:p>
        </p:txBody>
      </p:sp>
      <p:sp>
        <p:nvSpPr>
          <p:cNvPr id="118" name="Body Level One…"/>
          <p:cNvSpPr txBox="1"/>
          <p:nvPr>
            <p:ph type="body" sz="quarter" idx="1"/>
          </p:nvPr>
        </p:nvSpPr>
        <p:spPr>
          <a:xfrm>
            <a:off x="581191" y="5260126"/>
            <a:ext cx="11029618" cy="598673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None/>
              <a:defRPr sz="1200"/>
            </a:lvl1pPr>
            <a:lvl2pPr marL="0" indent="457200">
              <a:buClrTx/>
              <a:buSzTx/>
              <a:buNone/>
              <a:defRPr sz="1200"/>
            </a:lvl2pPr>
            <a:lvl3pPr marL="0" indent="914400">
              <a:buClrTx/>
              <a:buSzTx/>
              <a:buNone/>
              <a:defRPr sz="1200"/>
            </a:lvl3pPr>
            <a:lvl4pPr marL="0" indent="1371600">
              <a:buClrTx/>
              <a:buSzTx/>
              <a:buNone/>
              <a:defRPr sz="1200"/>
            </a:lvl4pPr>
            <a:lvl5pPr marL="0" indent="1828800">
              <a:buClrTx/>
              <a:buSzTx/>
              <a:buNone/>
              <a:defRPr sz="1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/>
          <p:nvPr/>
        </p:nvSpPr>
        <p:spPr>
          <a:xfrm>
            <a:off x="446533" y="457200"/>
            <a:ext cx="3703322" cy="94997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" name="Rectangle 9"/>
          <p:cNvSpPr/>
          <p:nvPr/>
        </p:nvSpPr>
        <p:spPr>
          <a:xfrm>
            <a:off x="8042147" y="453642"/>
            <a:ext cx="3703321" cy="98555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Rectangle 10"/>
          <p:cNvSpPr/>
          <p:nvPr/>
        </p:nvSpPr>
        <p:spPr>
          <a:xfrm>
            <a:off x="4241829" y="457200"/>
            <a:ext cx="3703321" cy="91441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" name="Rectangle 6"/>
          <p:cNvSpPr/>
          <p:nvPr/>
        </p:nvSpPr>
        <p:spPr>
          <a:xfrm>
            <a:off x="440683" y="606554"/>
            <a:ext cx="11300036" cy="125882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" name="Title Text"/>
          <p:cNvSpPr txBox="1"/>
          <p:nvPr>
            <p:ph type="title"/>
          </p:nvPr>
        </p:nvSpPr>
        <p:spPr>
          <a:xfrm>
            <a:off x="575894" y="729657"/>
            <a:ext cx="11029616" cy="9883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7" name="Body Level One…"/>
          <p:cNvSpPr txBox="1"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" name="Slide Number"/>
          <p:cNvSpPr txBox="1"/>
          <p:nvPr>
            <p:ph type="sldNum" sz="quarter" idx="2"/>
          </p:nvPr>
        </p:nvSpPr>
        <p:spPr>
          <a:xfrm>
            <a:off x="11379533" y="6023129"/>
            <a:ext cx="231277" cy="2311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2800" u="none">
          <a:solidFill>
            <a:srgbClr val="FFFFFF"/>
          </a:solidFill>
          <a:uFillTx/>
          <a:latin typeface="Gill Sans MT"/>
          <a:ea typeface="Gill Sans MT"/>
          <a:cs typeface="Gill Sans MT"/>
          <a:sym typeface="Gill Sans MT"/>
        </a:defRPr>
      </a:lvl1pPr>
      <a:lvl2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2800" u="none">
          <a:solidFill>
            <a:srgbClr val="FFFFFF"/>
          </a:solidFill>
          <a:uFillTx/>
          <a:latin typeface="Gill Sans MT"/>
          <a:ea typeface="Gill Sans MT"/>
          <a:cs typeface="Gill Sans MT"/>
          <a:sym typeface="Gill Sans MT"/>
        </a:defRPr>
      </a:lvl2pPr>
      <a:lvl3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2800" u="none">
          <a:solidFill>
            <a:srgbClr val="FFFFFF"/>
          </a:solidFill>
          <a:uFillTx/>
          <a:latin typeface="Gill Sans MT"/>
          <a:ea typeface="Gill Sans MT"/>
          <a:cs typeface="Gill Sans MT"/>
          <a:sym typeface="Gill Sans MT"/>
        </a:defRPr>
      </a:lvl3pPr>
      <a:lvl4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2800" u="none">
          <a:solidFill>
            <a:srgbClr val="FFFFFF"/>
          </a:solidFill>
          <a:uFillTx/>
          <a:latin typeface="Gill Sans MT"/>
          <a:ea typeface="Gill Sans MT"/>
          <a:cs typeface="Gill Sans MT"/>
          <a:sym typeface="Gill Sans MT"/>
        </a:defRPr>
      </a:lvl4pPr>
      <a:lvl5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2800" u="none">
          <a:solidFill>
            <a:srgbClr val="FFFFFF"/>
          </a:solidFill>
          <a:uFillTx/>
          <a:latin typeface="Gill Sans MT"/>
          <a:ea typeface="Gill Sans MT"/>
          <a:cs typeface="Gill Sans MT"/>
          <a:sym typeface="Gill Sans MT"/>
        </a:defRPr>
      </a:lvl5pPr>
      <a:lvl6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2800" u="none">
          <a:solidFill>
            <a:srgbClr val="FFFFFF"/>
          </a:solidFill>
          <a:uFillTx/>
          <a:latin typeface="Gill Sans MT"/>
          <a:ea typeface="Gill Sans MT"/>
          <a:cs typeface="Gill Sans MT"/>
          <a:sym typeface="Gill Sans MT"/>
        </a:defRPr>
      </a:lvl6pPr>
      <a:lvl7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2800" u="none">
          <a:solidFill>
            <a:srgbClr val="FFFFFF"/>
          </a:solidFill>
          <a:uFillTx/>
          <a:latin typeface="Gill Sans MT"/>
          <a:ea typeface="Gill Sans MT"/>
          <a:cs typeface="Gill Sans MT"/>
          <a:sym typeface="Gill Sans MT"/>
        </a:defRPr>
      </a:lvl7pPr>
      <a:lvl8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2800" u="none">
          <a:solidFill>
            <a:srgbClr val="FFFFFF"/>
          </a:solidFill>
          <a:uFillTx/>
          <a:latin typeface="Gill Sans MT"/>
          <a:ea typeface="Gill Sans MT"/>
          <a:cs typeface="Gill Sans MT"/>
          <a:sym typeface="Gill Sans MT"/>
        </a:defRPr>
      </a:lvl8pPr>
      <a:lvl9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2800" u="none">
          <a:solidFill>
            <a:srgbClr val="FFFFFF"/>
          </a:solidFill>
          <a:uFillTx/>
          <a:latin typeface="Gill Sans MT"/>
          <a:ea typeface="Gill Sans MT"/>
          <a:cs typeface="Gill Sans MT"/>
          <a:sym typeface="Gill Sans MT"/>
        </a:defRPr>
      </a:lvl9pPr>
    </p:titleStyle>
    <p:bodyStyle>
      <a:lvl1pPr marL="305999" marR="0" indent="-305999" algn="l" defTabSz="4572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2"/>
        </a:buClr>
        <a:buSzPct val="92000"/>
        <a:buFontTx/>
        <a:buChar char="◼"/>
        <a:tabLst/>
        <a:defRPr b="0" baseline="0" cap="none" i="0" spc="0" strike="noStrike" sz="1800" u="none">
          <a:solidFill>
            <a:srgbClr val="3D3D3D"/>
          </a:solidFill>
          <a:uFillTx/>
          <a:latin typeface="Gill Sans MT"/>
          <a:ea typeface="Gill Sans MT"/>
          <a:cs typeface="Gill Sans MT"/>
          <a:sym typeface="Gill Sans MT"/>
        </a:defRPr>
      </a:lvl1pPr>
      <a:lvl2pPr marL="668250" marR="0" indent="-344249" algn="l" defTabSz="4572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2"/>
        </a:buClr>
        <a:buSzPct val="92000"/>
        <a:buFontTx/>
        <a:buChar char="◼"/>
        <a:tabLst/>
        <a:defRPr b="0" baseline="0" cap="none" i="0" spc="0" strike="noStrike" sz="1800" u="none">
          <a:solidFill>
            <a:srgbClr val="3D3D3D"/>
          </a:solidFill>
          <a:uFillTx/>
          <a:latin typeface="Gill Sans MT"/>
          <a:ea typeface="Gill Sans MT"/>
          <a:cs typeface="Gill Sans MT"/>
          <a:sym typeface="Gill Sans MT"/>
        </a:defRPr>
      </a:lvl2pPr>
      <a:lvl3pPr marL="977142" marR="0" indent="-347142" algn="l" defTabSz="4572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2"/>
        </a:buClr>
        <a:buSzPct val="92000"/>
        <a:buFontTx/>
        <a:buChar char="◼"/>
        <a:tabLst/>
        <a:defRPr b="0" baseline="0" cap="none" i="0" spc="0" strike="noStrike" sz="1800" u="none">
          <a:solidFill>
            <a:srgbClr val="3D3D3D"/>
          </a:solidFill>
          <a:uFillTx/>
          <a:latin typeface="Gill Sans MT"/>
          <a:ea typeface="Gill Sans MT"/>
          <a:cs typeface="Gill Sans MT"/>
          <a:sym typeface="Gill Sans MT"/>
        </a:defRPr>
      </a:lvl3pPr>
      <a:lvl4pPr marL="1358999" marR="0" indent="-351000" algn="l" defTabSz="4572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2"/>
        </a:buClr>
        <a:buSzPct val="92000"/>
        <a:buFontTx/>
        <a:buChar char="◼"/>
        <a:tabLst/>
        <a:defRPr b="0" baseline="0" cap="none" i="0" spc="0" strike="noStrike" sz="1800" u="none">
          <a:solidFill>
            <a:srgbClr val="3D3D3D"/>
          </a:solidFill>
          <a:uFillTx/>
          <a:latin typeface="Gill Sans MT"/>
          <a:ea typeface="Gill Sans MT"/>
          <a:cs typeface="Gill Sans MT"/>
          <a:sym typeface="Gill Sans MT"/>
        </a:defRPr>
      </a:lvl4pPr>
      <a:lvl5pPr marL="1718999" marR="0" indent="-350999" algn="l" defTabSz="4572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2"/>
        </a:buClr>
        <a:buSzPct val="92000"/>
        <a:buFontTx/>
        <a:buChar char="◼"/>
        <a:tabLst/>
        <a:defRPr b="0" baseline="0" cap="none" i="0" spc="0" strike="noStrike" sz="1800" u="none">
          <a:solidFill>
            <a:srgbClr val="3D3D3D"/>
          </a:solidFill>
          <a:uFillTx/>
          <a:latin typeface="Gill Sans MT"/>
          <a:ea typeface="Gill Sans MT"/>
          <a:cs typeface="Gill Sans MT"/>
          <a:sym typeface="Gill Sans MT"/>
        </a:defRPr>
      </a:lvl5pPr>
      <a:lvl6pPr marL="2014299" marR="0" indent="-342900" algn="l" defTabSz="4572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2"/>
        </a:buClr>
        <a:buSzPct val="92000"/>
        <a:buFontTx/>
        <a:buChar char="◼"/>
        <a:tabLst/>
        <a:defRPr b="0" baseline="0" cap="none" i="0" spc="0" strike="noStrike" sz="1800" u="none">
          <a:solidFill>
            <a:srgbClr val="3D3D3D"/>
          </a:solidFill>
          <a:uFillTx/>
          <a:latin typeface="Gill Sans MT"/>
          <a:ea typeface="Gill Sans MT"/>
          <a:cs typeface="Gill Sans MT"/>
          <a:sym typeface="Gill Sans MT"/>
        </a:defRPr>
      </a:lvl6pPr>
      <a:lvl7pPr marL="2314300" marR="0" indent="-342900" algn="l" defTabSz="4572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2"/>
        </a:buClr>
        <a:buSzPct val="92000"/>
        <a:buFontTx/>
        <a:buChar char="◼"/>
        <a:tabLst/>
        <a:defRPr b="0" baseline="0" cap="none" i="0" spc="0" strike="noStrike" sz="1800" u="none">
          <a:solidFill>
            <a:srgbClr val="3D3D3D"/>
          </a:solidFill>
          <a:uFillTx/>
          <a:latin typeface="Gill Sans MT"/>
          <a:ea typeface="Gill Sans MT"/>
          <a:cs typeface="Gill Sans MT"/>
          <a:sym typeface="Gill Sans MT"/>
        </a:defRPr>
      </a:lvl7pPr>
      <a:lvl8pPr marL="2614299" marR="0" indent="-342900" algn="l" defTabSz="4572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2"/>
        </a:buClr>
        <a:buSzPct val="92000"/>
        <a:buFontTx/>
        <a:buChar char="◼"/>
        <a:tabLst/>
        <a:defRPr b="0" baseline="0" cap="none" i="0" spc="0" strike="noStrike" sz="1800" u="none">
          <a:solidFill>
            <a:srgbClr val="3D3D3D"/>
          </a:solidFill>
          <a:uFillTx/>
          <a:latin typeface="Gill Sans MT"/>
          <a:ea typeface="Gill Sans MT"/>
          <a:cs typeface="Gill Sans MT"/>
          <a:sym typeface="Gill Sans MT"/>
        </a:defRPr>
      </a:lvl8pPr>
      <a:lvl9pPr marL="2914300" marR="0" indent="-342900" algn="l" defTabSz="4572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2"/>
        </a:buClr>
        <a:buSzPct val="92000"/>
        <a:buFontTx/>
        <a:buChar char="◼"/>
        <a:tabLst/>
        <a:defRPr b="0" baseline="0" cap="none" i="0" spc="0" strike="noStrike" sz="1800" u="none">
          <a:solidFill>
            <a:srgbClr val="3D3D3D"/>
          </a:solidFill>
          <a:uFillTx/>
          <a:latin typeface="Gill Sans MT"/>
          <a:ea typeface="Gill Sans MT"/>
          <a:cs typeface="Gill Sans MT"/>
          <a:sym typeface="Gill Sans MT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Gill Sans MT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Gill Sans MT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Gill Sans MT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Gill Sans MT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Gill Sans MT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Gill Sans MT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Gill Sans MT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Gill Sans MT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Gill Sans M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" name="TextBox 2"/>
          <p:cNvSpPr txBox="1"/>
          <p:nvPr/>
        </p:nvSpPr>
        <p:spPr>
          <a:xfrm>
            <a:off x="745719" y="1100000"/>
            <a:ext cx="1070056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chemeClr val="accent3"/>
                </a:solidFill>
              </a:defRPr>
            </a:lvl1pPr>
          </a:lstStyle>
          <a:p>
            <a:pPr/>
            <a:r>
              <a:t>HITACHIGYMNASIET  ·  PROGRAMMERING &amp; TEKNIK</a:t>
            </a:r>
          </a:p>
        </p:txBody>
      </p:sp>
      <p:sp>
        <p:nvSpPr>
          <p:cNvPr id="130" name="TextBox 3"/>
          <p:cNvSpPr txBox="1"/>
          <p:nvPr/>
        </p:nvSpPr>
        <p:spPr>
          <a:xfrm>
            <a:off x="745719" y="1549999"/>
            <a:ext cx="10700561" cy="109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600">
                <a:solidFill>
                  <a:srgbClr val="FFFFFF"/>
                </a:solidFill>
              </a:defRPr>
            </a:lvl1pPr>
          </a:lstStyle>
          <a:p>
            <a:pPr/>
            <a:r>
              <a:t>MQTT</a:t>
            </a:r>
          </a:p>
        </p:txBody>
      </p:sp>
      <p:sp>
        <p:nvSpPr>
          <p:cNvPr id="131" name="TextBox 4"/>
          <p:cNvSpPr txBox="1"/>
          <p:nvPr/>
        </p:nvSpPr>
        <p:spPr>
          <a:xfrm>
            <a:off x="745719" y="2650000"/>
            <a:ext cx="10700561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Så pratar saker med varandra — från Arduino och webbsida</a:t>
            </a:r>
          </a:p>
        </p:txBody>
      </p:sp>
      <p:grpSp>
        <p:nvGrpSpPr>
          <p:cNvPr id="134" name="Rounded Rectangle 5"/>
          <p:cNvGrpSpPr/>
          <p:nvPr/>
        </p:nvGrpSpPr>
        <p:grpSpPr>
          <a:xfrm>
            <a:off x="900000" y="4199999"/>
            <a:ext cx="2600001" cy="900001"/>
            <a:chOff x="0" y="0"/>
            <a:chExt cx="2600000" cy="900000"/>
          </a:xfrm>
        </p:grpSpPr>
        <p:sp>
          <p:nvSpPr>
            <p:cNvPr id="132" name="Rounded Rectangle"/>
            <p:cNvSpPr/>
            <p:nvPr/>
          </p:nvSpPr>
          <p:spPr>
            <a:xfrm>
              <a:off x="0" y="0"/>
              <a:ext cx="2600001" cy="900001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3" name="ESP8266…"/>
            <p:cNvSpPr txBox="1"/>
            <p:nvPr/>
          </p:nvSpPr>
          <p:spPr>
            <a:xfrm>
              <a:off x="58213" y="182029"/>
              <a:ext cx="2483573" cy="535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600">
                  <a:solidFill>
                    <a:srgbClr val="FFFFFF"/>
                  </a:solidFill>
                </a:defRPr>
              </a:pPr>
              <a:r>
                <a:t>ESP8266</a:t>
              </a:r>
            </a:p>
            <a:p>
              <a:pPr algn="ctr">
                <a:defRPr sz="1300">
                  <a:solidFill>
                    <a:srgbClr val="FFFFFF"/>
                  </a:solidFill>
                </a:defRPr>
              </a:pPr>
              <a:r>
                <a:t>Arduino</a:t>
              </a:r>
            </a:p>
          </p:txBody>
        </p:sp>
      </p:grpSp>
      <p:grpSp>
        <p:nvGrpSpPr>
          <p:cNvPr id="137" name="Left-Right Arrow 6"/>
          <p:cNvGrpSpPr/>
          <p:nvPr/>
        </p:nvGrpSpPr>
        <p:grpSpPr>
          <a:xfrm>
            <a:off x="3600000" y="4450000"/>
            <a:ext cx="1300001" cy="400001"/>
            <a:chOff x="0" y="0"/>
            <a:chExt cx="1300000" cy="400000"/>
          </a:xfrm>
        </p:grpSpPr>
        <p:sp>
          <p:nvSpPr>
            <p:cNvPr id="135" name="Double Arrow"/>
            <p:cNvSpPr/>
            <p:nvPr/>
          </p:nvSpPr>
          <p:spPr>
            <a:xfrm>
              <a:off x="0" y="0"/>
              <a:ext cx="1300001" cy="400001"/>
            </a:xfrm>
            <a:prstGeom prst="leftRightArrow">
              <a:avLst>
                <a:gd name="adj1" fmla="val 50000"/>
                <a:gd name="adj2" fmla="val 50000"/>
              </a:avLst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6" name="1883"/>
            <p:cNvSpPr txBox="1"/>
            <p:nvPr/>
          </p:nvSpPr>
          <p:spPr>
            <a:xfrm>
              <a:off x="145719" y="71730"/>
              <a:ext cx="1008562" cy="2565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100">
                  <a:solidFill>
                    <a:srgbClr val="FFFFFF"/>
                  </a:solidFill>
                </a:defRPr>
              </a:lvl1pPr>
            </a:lstStyle>
            <a:p>
              <a:pPr/>
              <a:r>
                <a:t>1883</a:t>
              </a:r>
            </a:p>
          </p:txBody>
        </p:sp>
      </p:grpSp>
      <p:grpSp>
        <p:nvGrpSpPr>
          <p:cNvPr id="140" name="Rounded Rectangle 7"/>
          <p:cNvGrpSpPr/>
          <p:nvPr/>
        </p:nvGrpSpPr>
        <p:grpSpPr>
          <a:xfrm>
            <a:off x="4999999" y="4050000"/>
            <a:ext cx="2200001" cy="1200001"/>
            <a:chOff x="0" y="0"/>
            <a:chExt cx="2200000" cy="1200000"/>
          </a:xfrm>
        </p:grpSpPr>
        <p:sp>
          <p:nvSpPr>
            <p:cNvPr id="138" name="Rounded Rectangle"/>
            <p:cNvSpPr/>
            <p:nvPr/>
          </p:nvSpPr>
          <p:spPr>
            <a:xfrm>
              <a:off x="0" y="0"/>
              <a:ext cx="2200001" cy="1200001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9" name="Broker…"/>
            <p:cNvSpPr txBox="1"/>
            <p:nvPr/>
          </p:nvSpPr>
          <p:spPr>
            <a:xfrm>
              <a:off x="72858" y="230430"/>
              <a:ext cx="2054283" cy="739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600">
                  <a:solidFill>
                    <a:schemeClr val="accent1"/>
                  </a:solidFill>
                </a:defRPr>
              </a:pPr>
              <a:r>
                <a:t>Broker</a:t>
              </a:r>
              <a:endParaRPr>
                <a:solidFill>
                  <a:srgbClr val="FFFFFF"/>
                </a:solidFill>
              </a:endParaRPr>
            </a:p>
            <a:p>
              <a:pPr algn="ctr">
                <a:defRPr sz="1300">
                  <a:solidFill>
                    <a:schemeClr val="accent1"/>
                  </a:solidFill>
                </a:defRPr>
              </a:pPr>
              <a:r>
                <a:t>mqtt-broker.cloud.mustini.com</a:t>
              </a:r>
            </a:p>
          </p:txBody>
        </p:sp>
      </p:grpSp>
      <p:grpSp>
        <p:nvGrpSpPr>
          <p:cNvPr id="143" name="Left-Right Arrow 8"/>
          <p:cNvGrpSpPr/>
          <p:nvPr/>
        </p:nvGrpSpPr>
        <p:grpSpPr>
          <a:xfrm>
            <a:off x="7300000" y="4450000"/>
            <a:ext cx="1300001" cy="400001"/>
            <a:chOff x="0" y="0"/>
            <a:chExt cx="1300000" cy="400000"/>
          </a:xfrm>
        </p:grpSpPr>
        <p:sp>
          <p:nvSpPr>
            <p:cNvPr id="141" name="Double Arrow"/>
            <p:cNvSpPr/>
            <p:nvPr/>
          </p:nvSpPr>
          <p:spPr>
            <a:xfrm>
              <a:off x="0" y="0"/>
              <a:ext cx="1300001" cy="400001"/>
            </a:xfrm>
            <a:prstGeom prst="leftRightArrow">
              <a:avLst>
                <a:gd name="adj1" fmla="val 50000"/>
                <a:gd name="adj2" fmla="val 50000"/>
              </a:avLst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42" name="9001 / 443"/>
            <p:cNvSpPr txBox="1"/>
            <p:nvPr/>
          </p:nvSpPr>
          <p:spPr>
            <a:xfrm>
              <a:off x="145719" y="71730"/>
              <a:ext cx="1008562" cy="2565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100">
                  <a:solidFill>
                    <a:srgbClr val="FFFFFF"/>
                  </a:solidFill>
                </a:defRPr>
              </a:lvl1pPr>
            </a:lstStyle>
            <a:p>
              <a:pPr/>
              <a:r>
                <a:t>9001 / 443</a:t>
              </a:r>
            </a:p>
          </p:txBody>
        </p:sp>
      </p:grpSp>
      <p:grpSp>
        <p:nvGrpSpPr>
          <p:cNvPr id="146" name="Rounded Rectangle 9"/>
          <p:cNvGrpSpPr/>
          <p:nvPr/>
        </p:nvGrpSpPr>
        <p:grpSpPr>
          <a:xfrm>
            <a:off x="8699999" y="4199999"/>
            <a:ext cx="2600001" cy="900001"/>
            <a:chOff x="0" y="0"/>
            <a:chExt cx="2600000" cy="900000"/>
          </a:xfrm>
        </p:grpSpPr>
        <p:sp>
          <p:nvSpPr>
            <p:cNvPr id="144" name="Rounded Rectangle"/>
            <p:cNvSpPr/>
            <p:nvPr/>
          </p:nvSpPr>
          <p:spPr>
            <a:xfrm>
              <a:off x="0" y="0"/>
              <a:ext cx="2600001" cy="900001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45" name="Webbsida…"/>
            <p:cNvSpPr txBox="1"/>
            <p:nvPr/>
          </p:nvSpPr>
          <p:spPr>
            <a:xfrm>
              <a:off x="58213" y="182029"/>
              <a:ext cx="2483573" cy="535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600">
                  <a:solidFill>
                    <a:srgbClr val="FFFFFF"/>
                  </a:solidFill>
                </a:defRPr>
              </a:pPr>
              <a:r>
                <a:t>Webbsida</a:t>
              </a:r>
            </a:p>
            <a:p>
              <a:pPr algn="ctr">
                <a:defRPr sz="1300">
                  <a:solidFill>
                    <a:srgbClr val="FFFFFF"/>
                  </a:solidFill>
                </a:defRPr>
              </a:pPr>
              <a:r>
                <a:t>MQTT.js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itle 1"/>
          <p:cNvSpPr txBox="1"/>
          <p:nvPr>
            <p:ph type="title"/>
          </p:nvPr>
        </p:nvSpPr>
        <p:spPr>
          <a:xfrm>
            <a:off x="575894" y="729657"/>
            <a:ext cx="11029616" cy="988334"/>
          </a:xfrm>
          <a:prstGeom prst="rect">
            <a:avLst/>
          </a:prstGeom>
        </p:spPr>
        <p:txBody>
          <a:bodyPr/>
          <a:lstStyle/>
          <a:p>
            <a:pPr/>
            <a:r>
              <a:t>Varför inte bara HTTP?</a:t>
            </a:r>
          </a:p>
        </p:txBody>
      </p:sp>
      <p:graphicFrame>
        <p:nvGraphicFramePr>
          <p:cNvPr id="151" name="Table 2"/>
          <p:cNvGraphicFramePr/>
          <p:nvPr/>
        </p:nvGraphicFramePr>
        <p:xfrm>
          <a:off x="581025" y="1875400"/>
          <a:ext cx="11029950" cy="33600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2600000"/>
                <a:gridCol w="4200000"/>
                <a:gridCol w="4229950"/>
              </a:tblGrid>
              <a:tr h="480000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</a:p>
                  </a:txBody>
                  <a:tcPr marL="30000" marR="30000" marT="30000" marB="3000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HTTP</a:t>
                      </a:r>
                    </a:p>
                  </a:txBody>
                  <a:tcPr marL="30000" marR="30000" marT="30000" marB="3000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MQTT</a:t>
                      </a:r>
                    </a:p>
                  </a:txBody>
                  <a:tcPr marL="30000" marR="30000" marT="30000" marB="30000" anchor="t" anchorCtr="0" horzOverflow="overflow"/>
                </a:tc>
              </a:tr>
              <a:tr h="48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3D3D3D"/>
                          </a:solidFill>
                        </a:rPr>
                        <a:t>Modell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3D3D3D"/>
                          </a:solidFill>
                        </a:rPr>
                        <a:t>Fråga–svar: klienten frågar, servern svarar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3D3D3D"/>
                          </a:solidFill>
                        </a:rPr>
                        <a:t>Publicera–prenumerera via en broker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3D3D3D"/>
                          </a:solidFill>
                        </a:rPr>
                        <a:t>Vem startar?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3D3D3D"/>
                          </a:solidFill>
                        </a:rPr>
                        <a:t>Alltid klienten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3D3D3D"/>
                          </a:solidFill>
                        </a:rPr>
                        <a:t>Vem som helst, när som helst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EBEBEB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3D3D3D"/>
                          </a:solidFill>
                        </a:rPr>
                        <a:t>Anslutning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3D3D3D"/>
                          </a:solidFill>
                        </a:rPr>
                        <a:t>Ny för varje fråga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3D3D3D"/>
                          </a:solidFill>
                        </a:rPr>
                        <a:t>En öppen anslutning hela tiden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3D3D3D"/>
                          </a:solidFill>
                        </a:rPr>
                        <a:t>Overhead per meddelande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3D3D3D"/>
                          </a:solidFill>
                        </a:rPr>
                        <a:t>Hundratals byte headers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3D3D3D"/>
                          </a:solidFill>
                        </a:rPr>
                        <a:t>2 byte + topic + data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EBEBEB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3D3D3D"/>
                          </a:solidFill>
                        </a:rPr>
                        <a:t>Många mottagare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3D3D3D"/>
                          </a:solidFill>
                        </a:rPr>
                        <a:t>Servern skickar till var och en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3D3D3D"/>
                          </a:solidFill>
                        </a:rPr>
                        <a:t>Brokern gör det åt dig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3D3D3D"/>
                          </a:solidFill>
                        </a:rPr>
                        <a:t>Passar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3D3D3D"/>
                          </a:solidFill>
                        </a:rPr>
                        <a:t>Webbsidor, API:er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3D3D3D"/>
                          </a:solidFill>
                        </a:rPr>
                        <a:t>Sensorer, styrning, chatt, händelser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EBEBEB"/>
                    </a:solidFill>
                  </a:tcPr>
                </a:tc>
              </a:tr>
            </a:tbl>
          </a:graphicData>
        </a:graphic>
      </p:graphicFrame>
      <p:sp>
        <p:nvSpPr>
          <p:cNvPr id="152" name="TextBox 3"/>
          <p:cNvSpPr txBox="1"/>
          <p:nvPr/>
        </p:nvSpPr>
        <p:spPr>
          <a:xfrm>
            <a:off x="626744" y="5399999"/>
            <a:ext cx="1093851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3D3D3D"/>
                </a:solidFill>
              </a:defRPr>
            </a:lvl1pPr>
          </a:lstStyle>
          <a:p>
            <a:pPr/>
            <a:r>
              <a:t>Skapat 1999 för att övervaka oljeledningar via satellit — byggt för dåliga nät och små enheter. En ESP8266 håller en MQTT-anslutning öppen i veckor och skickar ett värde var tionde sekund utan att märka det.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itle 1"/>
          <p:cNvSpPr txBox="1"/>
          <p:nvPr>
            <p:ph type="title"/>
          </p:nvPr>
        </p:nvSpPr>
        <p:spPr>
          <a:xfrm>
            <a:off x="575894" y="729657"/>
            <a:ext cx="11029616" cy="988334"/>
          </a:xfrm>
          <a:prstGeom prst="rect">
            <a:avLst/>
          </a:prstGeom>
        </p:spPr>
        <p:txBody>
          <a:bodyPr/>
          <a:lstStyle/>
          <a:p>
            <a:pPr/>
            <a:r>
              <a:t>Tre roller: publisher, broker, subscriber</a:t>
            </a:r>
          </a:p>
        </p:txBody>
      </p:sp>
      <p:grpSp>
        <p:nvGrpSpPr>
          <p:cNvPr id="159" name="Rounded Rectangle 2"/>
          <p:cNvGrpSpPr/>
          <p:nvPr/>
        </p:nvGrpSpPr>
        <p:grpSpPr>
          <a:xfrm>
            <a:off x="581025" y="1952400"/>
            <a:ext cx="2500000" cy="800001"/>
            <a:chOff x="0" y="0"/>
            <a:chExt cx="2499999" cy="800000"/>
          </a:xfrm>
        </p:grpSpPr>
        <p:sp>
          <p:nvSpPr>
            <p:cNvPr id="157" name="Rounded Rectangle"/>
            <p:cNvSpPr/>
            <p:nvPr/>
          </p:nvSpPr>
          <p:spPr>
            <a:xfrm>
              <a:off x="0" y="0"/>
              <a:ext cx="2500000" cy="800001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58" name="Publisher…"/>
            <p:cNvSpPr txBox="1"/>
            <p:nvPr/>
          </p:nvSpPr>
          <p:spPr>
            <a:xfrm>
              <a:off x="53332" y="163779"/>
              <a:ext cx="2393335" cy="4724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>
                  <a:solidFill>
                    <a:srgbClr val="FFFFFF"/>
                  </a:solidFill>
                </a:defRPr>
              </a:pPr>
              <a:r>
                <a:t>Publisher</a:t>
              </a:r>
            </a:p>
            <a:p>
              <a:pPr algn="ctr">
                <a:defRPr sz="1100">
                  <a:solidFill>
                    <a:srgbClr val="FFFFFF"/>
                  </a:solidFill>
                </a:defRPr>
              </a:pPr>
              <a:r>
                <a:t>ESP8266: temperatur</a:t>
              </a:r>
            </a:p>
          </p:txBody>
        </p:sp>
      </p:grpSp>
      <p:grpSp>
        <p:nvGrpSpPr>
          <p:cNvPr id="162" name="Rounded Rectangle 3"/>
          <p:cNvGrpSpPr/>
          <p:nvPr/>
        </p:nvGrpSpPr>
        <p:grpSpPr>
          <a:xfrm>
            <a:off x="581025" y="3152400"/>
            <a:ext cx="2500000" cy="800001"/>
            <a:chOff x="0" y="0"/>
            <a:chExt cx="2499999" cy="800000"/>
          </a:xfrm>
        </p:grpSpPr>
        <p:sp>
          <p:nvSpPr>
            <p:cNvPr id="160" name="Rounded Rectangle"/>
            <p:cNvSpPr/>
            <p:nvPr/>
          </p:nvSpPr>
          <p:spPr>
            <a:xfrm>
              <a:off x="0" y="0"/>
              <a:ext cx="2500000" cy="800001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61" name="Publisher…"/>
            <p:cNvSpPr txBox="1"/>
            <p:nvPr/>
          </p:nvSpPr>
          <p:spPr>
            <a:xfrm>
              <a:off x="53332" y="163779"/>
              <a:ext cx="2393335" cy="4724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>
                  <a:solidFill>
                    <a:srgbClr val="FFFFFF"/>
                  </a:solidFill>
                </a:defRPr>
              </a:pPr>
              <a:r>
                <a:t>Publisher</a:t>
              </a:r>
            </a:p>
            <a:p>
              <a:pPr algn="ctr">
                <a:defRPr sz="1100">
                  <a:solidFill>
                    <a:srgbClr val="FFFFFF"/>
                  </a:solidFill>
                </a:defRPr>
              </a:pPr>
              <a:r>
                <a:t>Webbsida: knapp</a:t>
              </a:r>
            </a:p>
          </p:txBody>
        </p:sp>
      </p:grpSp>
      <p:grpSp>
        <p:nvGrpSpPr>
          <p:cNvPr id="165" name="Right Arrow 4"/>
          <p:cNvGrpSpPr/>
          <p:nvPr/>
        </p:nvGrpSpPr>
        <p:grpSpPr>
          <a:xfrm>
            <a:off x="3131024" y="2202400"/>
            <a:ext cx="1700001" cy="300001"/>
            <a:chOff x="0" y="0"/>
            <a:chExt cx="1699999" cy="300000"/>
          </a:xfrm>
        </p:grpSpPr>
        <p:sp>
          <p:nvSpPr>
            <p:cNvPr id="163" name="Arrow"/>
            <p:cNvSpPr/>
            <p:nvPr/>
          </p:nvSpPr>
          <p:spPr>
            <a:xfrm>
              <a:off x="0" y="0"/>
              <a:ext cx="1700000" cy="300001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64" name="fornamn/temp = 23.5"/>
            <p:cNvSpPr txBox="1"/>
            <p:nvPr/>
          </p:nvSpPr>
          <p:spPr>
            <a:xfrm>
              <a:off x="45719" y="34430"/>
              <a:ext cx="1533561" cy="231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900">
                  <a:solidFill>
                    <a:srgbClr val="FFFFFF"/>
                  </a:solidFill>
                </a:defRPr>
              </a:lvl1pPr>
            </a:lstStyle>
            <a:p>
              <a:pPr/>
              <a:r>
                <a:t>fornamn/temp = 23.5</a:t>
              </a:r>
            </a:p>
          </p:txBody>
        </p:sp>
      </p:grpSp>
      <p:grpSp>
        <p:nvGrpSpPr>
          <p:cNvPr id="168" name="Right Arrow 5"/>
          <p:cNvGrpSpPr/>
          <p:nvPr/>
        </p:nvGrpSpPr>
        <p:grpSpPr>
          <a:xfrm>
            <a:off x="3131024" y="3402400"/>
            <a:ext cx="1700001" cy="300001"/>
            <a:chOff x="0" y="0"/>
            <a:chExt cx="1699999" cy="300000"/>
          </a:xfrm>
        </p:grpSpPr>
        <p:sp>
          <p:nvSpPr>
            <p:cNvPr id="166" name="Arrow"/>
            <p:cNvSpPr/>
            <p:nvPr/>
          </p:nvSpPr>
          <p:spPr>
            <a:xfrm>
              <a:off x="0" y="0"/>
              <a:ext cx="1700000" cy="300001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67" name="fornamn/lampa = on"/>
            <p:cNvSpPr txBox="1"/>
            <p:nvPr/>
          </p:nvSpPr>
          <p:spPr>
            <a:xfrm>
              <a:off x="45719" y="34430"/>
              <a:ext cx="1533561" cy="231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900">
                  <a:solidFill>
                    <a:srgbClr val="FFFFFF"/>
                  </a:solidFill>
                </a:defRPr>
              </a:lvl1pPr>
            </a:lstStyle>
            <a:p>
              <a:pPr/>
              <a:r>
                <a:t>fornamn/lampa = on</a:t>
              </a:r>
            </a:p>
          </p:txBody>
        </p:sp>
      </p:grpSp>
      <p:grpSp>
        <p:nvGrpSpPr>
          <p:cNvPr id="171" name="Oval 6"/>
          <p:cNvGrpSpPr/>
          <p:nvPr/>
        </p:nvGrpSpPr>
        <p:grpSpPr>
          <a:xfrm>
            <a:off x="4881024" y="1952400"/>
            <a:ext cx="2400001" cy="2000001"/>
            <a:chOff x="0" y="0"/>
            <a:chExt cx="2400000" cy="2000000"/>
          </a:xfrm>
        </p:grpSpPr>
        <p:sp>
          <p:nvSpPr>
            <p:cNvPr id="169" name="Oval"/>
            <p:cNvSpPr/>
            <p:nvPr/>
          </p:nvSpPr>
          <p:spPr>
            <a:xfrm>
              <a:off x="-1" y="-1"/>
              <a:ext cx="2400002" cy="2000002"/>
            </a:xfrm>
            <a:prstGeom prst="ellipse">
              <a:avLst/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0" name="BROKER…"/>
            <p:cNvSpPr txBox="1"/>
            <p:nvPr/>
          </p:nvSpPr>
          <p:spPr>
            <a:xfrm>
              <a:off x="397191" y="635449"/>
              <a:ext cx="1605618" cy="7291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2000">
                  <a:solidFill>
                    <a:schemeClr val="accent1"/>
                  </a:solidFill>
                </a:defRPr>
              </a:pPr>
              <a:r>
                <a:t>BROKER</a:t>
              </a:r>
              <a:endParaRPr>
                <a:solidFill>
                  <a:srgbClr val="FFFFFF"/>
                </a:solidFill>
              </a:endParaRPr>
            </a:p>
            <a:p>
              <a:pPr algn="ctr">
                <a:defRPr sz="1100">
                  <a:solidFill>
                    <a:schemeClr val="accent1"/>
                  </a:solidFill>
                </a:defRPr>
              </a:pPr>
              <a:r>
                <a:t>matchar topic → skickar vidare</a:t>
              </a:r>
            </a:p>
          </p:txBody>
        </p:sp>
      </p:grpSp>
      <p:grpSp>
        <p:nvGrpSpPr>
          <p:cNvPr id="174" name="Right Arrow 7"/>
          <p:cNvGrpSpPr/>
          <p:nvPr/>
        </p:nvGrpSpPr>
        <p:grpSpPr>
          <a:xfrm>
            <a:off x="7331024" y="2202400"/>
            <a:ext cx="1700001" cy="300001"/>
            <a:chOff x="0" y="0"/>
            <a:chExt cx="1699999" cy="300000"/>
          </a:xfrm>
        </p:grpSpPr>
        <p:sp>
          <p:nvSpPr>
            <p:cNvPr id="172" name="Arrow"/>
            <p:cNvSpPr/>
            <p:nvPr/>
          </p:nvSpPr>
          <p:spPr>
            <a:xfrm>
              <a:off x="0" y="0"/>
              <a:ext cx="1700000" cy="300001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3" name="fornamn/temp"/>
            <p:cNvSpPr txBox="1"/>
            <p:nvPr/>
          </p:nvSpPr>
          <p:spPr>
            <a:xfrm>
              <a:off x="45719" y="34430"/>
              <a:ext cx="1533561" cy="231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900">
                  <a:solidFill>
                    <a:srgbClr val="FFFFFF"/>
                  </a:solidFill>
                </a:defRPr>
              </a:lvl1pPr>
            </a:lstStyle>
            <a:p>
              <a:pPr/>
              <a:r>
                <a:t>fornamn/temp</a:t>
              </a:r>
            </a:p>
          </p:txBody>
        </p:sp>
      </p:grpSp>
      <p:grpSp>
        <p:nvGrpSpPr>
          <p:cNvPr id="177" name="Right Arrow 8"/>
          <p:cNvGrpSpPr/>
          <p:nvPr/>
        </p:nvGrpSpPr>
        <p:grpSpPr>
          <a:xfrm>
            <a:off x="7331024" y="3402400"/>
            <a:ext cx="1700001" cy="300001"/>
            <a:chOff x="0" y="0"/>
            <a:chExt cx="1699999" cy="300000"/>
          </a:xfrm>
        </p:grpSpPr>
        <p:sp>
          <p:nvSpPr>
            <p:cNvPr id="175" name="Arrow"/>
            <p:cNvSpPr/>
            <p:nvPr/>
          </p:nvSpPr>
          <p:spPr>
            <a:xfrm>
              <a:off x="0" y="0"/>
              <a:ext cx="1700000" cy="300001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6" name="fornamn/lampa"/>
            <p:cNvSpPr txBox="1"/>
            <p:nvPr/>
          </p:nvSpPr>
          <p:spPr>
            <a:xfrm>
              <a:off x="45719" y="34430"/>
              <a:ext cx="1533561" cy="231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900">
                  <a:solidFill>
                    <a:srgbClr val="FFFFFF"/>
                  </a:solidFill>
                </a:defRPr>
              </a:lvl1pPr>
            </a:lstStyle>
            <a:p>
              <a:pPr/>
              <a:r>
                <a:t>fornamn/lampa</a:t>
              </a:r>
            </a:p>
          </p:txBody>
        </p:sp>
      </p:grpSp>
      <p:grpSp>
        <p:nvGrpSpPr>
          <p:cNvPr id="180" name="Rounded Rectangle 9"/>
          <p:cNvGrpSpPr/>
          <p:nvPr/>
        </p:nvGrpSpPr>
        <p:grpSpPr>
          <a:xfrm>
            <a:off x="9081024" y="1952400"/>
            <a:ext cx="2500001" cy="800001"/>
            <a:chOff x="0" y="0"/>
            <a:chExt cx="2499999" cy="800000"/>
          </a:xfrm>
        </p:grpSpPr>
        <p:sp>
          <p:nvSpPr>
            <p:cNvPr id="178" name="Rounded Rectangle"/>
            <p:cNvSpPr/>
            <p:nvPr/>
          </p:nvSpPr>
          <p:spPr>
            <a:xfrm>
              <a:off x="0" y="0"/>
              <a:ext cx="2500000" cy="800001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9" name="Subscriber…"/>
            <p:cNvSpPr txBox="1"/>
            <p:nvPr/>
          </p:nvSpPr>
          <p:spPr>
            <a:xfrm>
              <a:off x="53332" y="163779"/>
              <a:ext cx="2393335" cy="4724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>
                  <a:solidFill>
                    <a:srgbClr val="FFFFFF"/>
                  </a:solidFill>
                </a:defRPr>
              </a:pPr>
              <a:r>
                <a:t>Subscriber</a:t>
              </a:r>
            </a:p>
            <a:p>
              <a:pPr algn="ctr">
                <a:defRPr sz="1100">
                  <a:solidFill>
                    <a:srgbClr val="FFFFFF"/>
                  </a:solidFill>
                </a:defRPr>
              </a:pPr>
              <a:r>
                <a:t>Webbsida: visar 23.5 °C</a:t>
              </a:r>
            </a:p>
          </p:txBody>
        </p:sp>
      </p:grpSp>
      <p:grpSp>
        <p:nvGrpSpPr>
          <p:cNvPr id="183" name="Rounded Rectangle 10"/>
          <p:cNvGrpSpPr/>
          <p:nvPr/>
        </p:nvGrpSpPr>
        <p:grpSpPr>
          <a:xfrm>
            <a:off x="9081024" y="3152400"/>
            <a:ext cx="2500001" cy="800001"/>
            <a:chOff x="0" y="0"/>
            <a:chExt cx="2499999" cy="800000"/>
          </a:xfrm>
        </p:grpSpPr>
        <p:sp>
          <p:nvSpPr>
            <p:cNvPr id="181" name="Rounded Rectangle"/>
            <p:cNvSpPr/>
            <p:nvPr/>
          </p:nvSpPr>
          <p:spPr>
            <a:xfrm>
              <a:off x="0" y="0"/>
              <a:ext cx="2500000" cy="800001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2" name="Subscriber…"/>
            <p:cNvSpPr txBox="1"/>
            <p:nvPr/>
          </p:nvSpPr>
          <p:spPr>
            <a:xfrm>
              <a:off x="53332" y="163779"/>
              <a:ext cx="2393335" cy="4724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>
                  <a:solidFill>
                    <a:srgbClr val="FFFFFF"/>
                  </a:solidFill>
                </a:defRPr>
              </a:pPr>
              <a:r>
                <a:t>Subscriber</a:t>
              </a:r>
            </a:p>
            <a:p>
              <a:pPr algn="ctr">
                <a:defRPr sz="1100">
                  <a:solidFill>
                    <a:srgbClr val="FFFFFF"/>
                  </a:solidFill>
                </a:defRPr>
              </a:pPr>
              <a:r>
                <a:t>ESP8266: tänder lampan</a:t>
              </a:r>
            </a:p>
          </p:txBody>
        </p:sp>
      </p:grpSp>
      <p:sp>
        <p:nvSpPr>
          <p:cNvPr id="184" name="TextBox 11"/>
          <p:cNvSpPr txBox="1"/>
          <p:nvPr/>
        </p:nvSpPr>
        <p:spPr>
          <a:xfrm>
            <a:off x="626744" y="4299999"/>
            <a:ext cx="10938511" cy="95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400">
                <a:solidFill>
                  <a:srgbClr val="3D3D3D"/>
                </a:solidFill>
              </a:defRPr>
            </a:pPr>
            <a:r>
              <a:t>Ingen ansluter till någon annan — alla ansluter till brokern. Avsändare och mottagare vet inget om varandra; de känner bara till broker-adressen och topic-namnet.</a:t>
            </a:r>
          </a:p>
          <a:p>
            <a:pPr>
              <a:defRPr sz="1400">
                <a:solidFill>
                  <a:srgbClr val="3D3D3D"/>
                </a:solidFill>
              </a:defRPr>
            </a:pPr>
            <a:r>
              <a:t>Samma klient kan vara både publisher och subscriber (ESP:n här gör båda). En tredje klient — Python, ROS2, en telefon — kan läggas till utan att något annat ändras.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itle 1"/>
          <p:cNvSpPr txBox="1"/>
          <p:nvPr>
            <p:ph type="title"/>
          </p:nvPr>
        </p:nvSpPr>
        <p:spPr>
          <a:xfrm>
            <a:off x="575894" y="729657"/>
            <a:ext cx="11029616" cy="988334"/>
          </a:xfrm>
          <a:prstGeom prst="rect">
            <a:avLst/>
          </a:prstGeom>
        </p:spPr>
        <p:txBody>
          <a:bodyPr/>
          <a:lstStyle/>
          <a:p>
            <a:pPr/>
            <a:r>
              <a:t>Topics — kanalerna</a:t>
            </a:r>
          </a:p>
        </p:txBody>
      </p:sp>
      <p:grpSp>
        <p:nvGrpSpPr>
          <p:cNvPr id="191" name="Rounded Rectangle 2"/>
          <p:cNvGrpSpPr/>
          <p:nvPr/>
        </p:nvGrpSpPr>
        <p:grpSpPr>
          <a:xfrm>
            <a:off x="581025" y="1965100"/>
            <a:ext cx="5200001" cy="1500001"/>
            <a:chOff x="0" y="0"/>
            <a:chExt cx="5200000" cy="1500000"/>
          </a:xfrm>
        </p:grpSpPr>
        <p:sp>
          <p:nvSpPr>
            <p:cNvPr id="189" name="Rounded Rectangle"/>
            <p:cNvSpPr/>
            <p:nvPr/>
          </p:nvSpPr>
          <p:spPr>
            <a:xfrm>
              <a:off x="0" y="0"/>
              <a:ext cx="5200001" cy="1500001"/>
            </a:xfrm>
            <a:prstGeom prst="roundRect">
              <a:avLst>
                <a:gd name="adj" fmla="val 4000"/>
              </a:avLst>
            </a:prstGeom>
            <a:solidFill>
              <a:srgbClr val="1E25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90" name="fornamn/bil/hastighet…"/>
            <p:cNvSpPr txBox="1"/>
            <p:nvPr/>
          </p:nvSpPr>
          <p:spPr>
            <a:xfrm>
              <a:off x="57572" y="17573"/>
              <a:ext cx="5084855" cy="1185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9999" tIns="109999" rIns="109999" bIns="109999" numCol="1" anchor="t">
              <a:spAutoFit/>
            </a:bodyPr>
            <a:lstStyle/>
            <a:p>
              <a:pPr>
                <a:defRPr sz="1600">
                  <a:solidFill>
                    <a:srgbClr val="E6EDF3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fornamn/bil/hastighet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600">
                  <a:solidFill>
                    <a:srgbClr val="E6EDF3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fornamn/bil/avstand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600">
                  <a:solidFill>
                    <a:srgbClr val="E6EDF3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fornamn/hem/kok/temp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600">
                  <a:solidFill>
                    <a:srgbClr val="E6EDF3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fornamn/chat</a:t>
              </a:r>
            </a:p>
          </p:txBody>
        </p:sp>
      </p:grpSp>
      <p:sp>
        <p:nvSpPr>
          <p:cNvPr id="192" name="TextBox 3"/>
          <p:cNvSpPr txBox="1"/>
          <p:nvPr/>
        </p:nvSpPr>
        <p:spPr>
          <a:xfrm>
            <a:off x="6126745" y="1915099"/>
            <a:ext cx="543851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400"/>
              </a:spcBef>
              <a:defRPr sz="1500"/>
            </a:pPr>
            <a:r>
              <a:t>•  En textsträng med nivåer separerade av /</a:t>
            </a:r>
          </a:p>
          <a:p>
            <a:pPr>
              <a:spcBef>
                <a:spcPts val="400"/>
              </a:spcBef>
              <a:defRPr sz="1500"/>
            </a:pPr>
            <a:r>
              <a:t>•  Skiftlägeskänsligt: Lampa ≠ lampa</a:t>
            </a:r>
          </a:p>
          <a:p>
            <a:pPr>
              <a:spcBef>
                <a:spcPts val="400"/>
              </a:spcBef>
              <a:defRPr sz="1500"/>
            </a:pPr>
            <a:r>
              <a:t>•  Behöver inte skapas — första publiceringen räcker</a:t>
            </a:r>
          </a:p>
          <a:p>
            <a:pPr>
              <a:spcBef>
                <a:spcPts val="400"/>
              </a:spcBef>
              <a:defRPr sz="1500"/>
            </a:pPr>
            <a:r>
              <a:t>•  Inga mellanslag, börja inte med /</a:t>
            </a:r>
          </a:p>
          <a:p>
            <a:pPr>
              <a:spcBef>
                <a:spcPts val="400"/>
              </a:spcBef>
              <a:defRPr b="1" sz="1500"/>
            </a:pPr>
            <a:r>
              <a:t>•  Alltid ditt eget prefix först — brokern är delad</a:t>
            </a:r>
          </a:p>
        </p:txBody>
      </p:sp>
      <p:graphicFrame>
        <p:nvGraphicFramePr>
          <p:cNvPr id="193" name="Table 4"/>
          <p:cNvGraphicFramePr/>
          <p:nvPr/>
        </p:nvGraphicFramePr>
        <p:xfrm>
          <a:off x="581025" y="3650000"/>
          <a:ext cx="11029950" cy="21500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2900000"/>
                <a:gridCol w="4400000"/>
                <a:gridCol w="3729949"/>
              </a:tblGrid>
              <a:tr h="43000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Prenumeration</a:t>
                      </a:r>
                    </a:p>
                  </a:txBody>
                  <a:tcPr marL="30000" marR="30000" marT="30000" marB="3000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Matchar</a:t>
                      </a:r>
                    </a:p>
                  </a:txBody>
                  <a:tcPr marL="30000" marR="30000" marT="30000" marB="3000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Matchar inte</a:t>
                      </a:r>
                    </a:p>
                  </a:txBody>
                  <a:tcPr marL="30000" marR="30000" marT="30000" marB="30000" anchor="t" anchorCtr="0" horzOverflow="overflow"/>
                </a:tc>
              </a:tr>
              <a:tr h="43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3D3D3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fornamn/bil/hastighet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3D3D3D"/>
                          </a:solidFill>
                        </a:rPr>
                        <a:t>exakt det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3D3D3D"/>
                          </a:solidFill>
                        </a:rPr>
                        <a:t>allt annat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3D3D3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fornamn/bil/+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3D3D3D"/>
                          </a:solidFill>
                        </a:rPr>
                        <a:t>fornamn/bil/hastighet, fornamn/bil/avstand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3D3D3D"/>
                          </a:solidFill>
                        </a:rPr>
                        <a:t>fornamn/bil/motor/varv (två nivåer)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EBEBEB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3D3D3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fornamn/#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3D3D3D"/>
                          </a:solidFill>
                        </a:rPr>
                        <a:t>allt under fornamn/, alla nivåer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3D3D3D"/>
                          </a:solidFill>
                        </a:rPr>
                        <a:t>annan/…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3D3D3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3D3D3D"/>
                          </a:solidFill>
                        </a:rPr>
                        <a:t>ALLT på brokern (bara för felsökning)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3D3D3D"/>
                          </a:solidFill>
                        </a:rPr>
                        <a:t>—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EBEBEB"/>
                    </a:solidFill>
                  </a:tcPr>
                </a:tc>
              </a:tr>
            </a:tbl>
          </a:graphicData>
        </a:graphic>
      </p:graphicFrame>
      <p:sp>
        <p:nvSpPr>
          <p:cNvPr id="194" name="TextBox 5"/>
          <p:cNvSpPr txBox="1"/>
          <p:nvPr/>
        </p:nvSpPr>
        <p:spPr>
          <a:xfrm>
            <a:off x="626744" y="5899999"/>
            <a:ext cx="1093851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300">
                <a:solidFill>
                  <a:schemeClr val="accent1"/>
                </a:solidFill>
              </a:defRPr>
            </a:lvl1pPr>
          </a:lstStyle>
          <a:p>
            <a:pPr/>
            <a:r>
              <a:t>+ ersätter en nivå, # ersätter resten och får bara stå sist. Wildcards fungerar bara när man prenumererar.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itle 1"/>
          <p:cNvSpPr txBox="1"/>
          <p:nvPr>
            <p:ph type="title"/>
          </p:nvPr>
        </p:nvSpPr>
        <p:spPr>
          <a:xfrm>
            <a:off x="581193" y="729657"/>
            <a:ext cx="11029616" cy="988334"/>
          </a:xfrm>
          <a:prstGeom prst="rect">
            <a:avLst/>
          </a:prstGeom>
        </p:spPr>
        <p:txBody>
          <a:bodyPr/>
          <a:lstStyle/>
          <a:p>
            <a:pPr/>
            <a:r>
              <a:t>Meddelandet (payload)</a:t>
            </a:r>
          </a:p>
        </p:txBody>
      </p:sp>
      <p:sp>
        <p:nvSpPr>
          <p:cNvPr id="199" name="Content Placeholder 2"/>
          <p:cNvSpPr txBox="1"/>
          <p:nvPr>
            <p:ph type="body" sz="half" idx="1"/>
          </p:nvPr>
        </p:nvSpPr>
        <p:spPr>
          <a:xfrm>
            <a:off x="581193" y="2228002"/>
            <a:ext cx="5422390" cy="3633048"/>
          </a:xfrm>
          <a:prstGeom prst="rect">
            <a:avLst/>
          </a:prstGeom>
        </p:spPr>
        <p:txBody>
          <a:bodyPr/>
          <a:lstStyle/>
          <a:p>
            <a:pPr>
              <a:defRPr b="1">
                <a:solidFill>
                  <a:schemeClr val="accent1"/>
                </a:solidFill>
              </a:defRPr>
            </a:pPr>
            <a:r>
              <a:t>Ren text — ett värde</a:t>
            </a:r>
          </a:p>
          <a:p>
            <a:pPr>
              <a:defRPr sz="1500">
                <a:latin typeface="Consolas"/>
                <a:ea typeface="Consolas"/>
                <a:cs typeface="Consolas"/>
                <a:sym typeface="Consolas"/>
              </a:defRPr>
            </a:pPr>
            <a:r>
              <a:t>fornamn/temp  →  23.5</a:t>
            </a:r>
          </a:p>
          <a:p>
            <a:pPr>
              <a:defRPr sz="1500">
                <a:latin typeface="Consolas"/>
                <a:ea typeface="Consolas"/>
                <a:cs typeface="Consolas"/>
                <a:sym typeface="Consolas"/>
              </a:defRPr>
            </a:pPr>
            <a:r>
              <a:t>fornamn/lampa  →  on</a:t>
            </a:r>
          </a:p>
          <a:p>
            <a:pPr>
              <a:defRPr sz="1500">
                <a:latin typeface="Consolas"/>
                <a:ea typeface="Consolas"/>
                <a:cs typeface="Consolas"/>
                <a:sym typeface="Consolas"/>
              </a:defRPr>
            </a:pPr>
            <a:r>
              <a:t>fornamn/bil/cmd  →  600,-30</a:t>
            </a:r>
          </a:p>
          <a:p>
            <a:pPr>
              <a:defRPr i="1" sz="1400"/>
            </a:pPr>
            <a:r>
              <a:t>Enklast. Räcker för det mesta.</a:t>
            </a:r>
          </a:p>
        </p:txBody>
      </p:sp>
      <p:sp>
        <p:nvSpPr>
          <p:cNvPr id="200" name="Content Placeholder 3"/>
          <p:cNvSpPr txBox="1"/>
          <p:nvPr/>
        </p:nvSpPr>
        <p:spPr>
          <a:xfrm>
            <a:off x="6234136" y="2228002"/>
            <a:ext cx="5330953" cy="3633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 marL="305999" indent="-305999">
              <a:spcBef>
                <a:spcPts val="600"/>
              </a:spcBef>
              <a:buClr>
                <a:schemeClr val="accent2"/>
              </a:buClr>
              <a:buSzPct val="92000"/>
              <a:buChar char="◼"/>
              <a:defRPr b="1">
                <a:solidFill>
                  <a:schemeClr val="accent1"/>
                </a:solidFill>
              </a:defRPr>
            </a:pPr>
            <a:r>
              <a:t>JSON — flera fält</a:t>
            </a:r>
            <a:endParaRPr>
              <a:solidFill>
                <a:srgbClr val="3D3D3D"/>
              </a:solidFill>
            </a:endParaRPr>
          </a:p>
          <a:p>
            <a:pPr marL="305999" indent="-305999">
              <a:spcBef>
                <a:spcPts val="600"/>
              </a:spcBef>
              <a:buClr>
                <a:schemeClr val="accent2"/>
              </a:buClr>
              <a:buSzPct val="92000"/>
              <a:buChar char="◼"/>
              <a:defRPr sz="1500">
                <a:solidFill>
                  <a:srgbClr val="3D3D3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fornamn/chat  →</a:t>
            </a:r>
          </a:p>
          <a:p>
            <a:pPr marL="305999" indent="-305999">
              <a:spcBef>
                <a:spcPts val="600"/>
              </a:spcBef>
              <a:buClr>
                <a:schemeClr val="accent2"/>
              </a:buClr>
              <a:buSzPct val="92000"/>
              <a:buChar char="◼"/>
              <a:defRPr sz="1500">
                <a:solidFill>
                  <a:srgbClr val="3D3D3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{"user": "salle",</a:t>
            </a:r>
          </a:p>
          <a:p>
            <a:pPr marL="305999" indent="-305999">
              <a:spcBef>
                <a:spcPts val="600"/>
              </a:spcBef>
              <a:buClr>
                <a:schemeClr val="accent2"/>
              </a:buClr>
              <a:buSzPct val="92000"/>
              <a:buChar char="◼"/>
              <a:defRPr sz="1500">
                <a:solidFill>
                  <a:srgbClr val="3D3D3D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"message": "Hej!"}</a:t>
            </a:r>
          </a:p>
          <a:p>
            <a:pPr marL="305999" indent="-305999">
              <a:spcBef>
                <a:spcPts val="600"/>
              </a:spcBef>
              <a:buClr>
                <a:schemeClr val="accent2"/>
              </a:buClr>
              <a:buSzPct val="92000"/>
              <a:buChar char="◼"/>
              <a:defRPr i="1" sz="1400">
                <a:solidFill>
                  <a:srgbClr val="3D3D3D"/>
                </a:solidFill>
              </a:defRPr>
            </a:pPr>
            <a:r>
              <a:t>Webb: JSON.stringify / JSON.parse. ESP: strängar eller ArduinoJson.</a:t>
            </a:r>
          </a:p>
        </p:txBody>
      </p:sp>
      <p:sp>
        <p:nvSpPr>
          <p:cNvPr id="201" name="TextBox 4"/>
          <p:cNvSpPr txBox="1"/>
          <p:nvPr/>
        </p:nvSpPr>
        <p:spPr>
          <a:xfrm>
            <a:off x="626744" y="5057205"/>
            <a:ext cx="10938511" cy="73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400">
                <a:solidFill>
                  <a:srgbClr val="3D3D3D"/>
                </a:solidFill>
              </a:defRPr>
            </a:pPr>
            <a:r>
              <a:t>Brokern tolkar aldrig innehållet — det är bara bytes. Håll det litet: skicka 23.5, inte "Temperaturen är just nu 23.5 grader". En ESP8266 har 40 kB RAM.</a:t>
            </a:r>
          </a:p>
          <a:p>
            <a:pPr>
              <a:defRPr sz="1400">
                <a:solidFill>
                  <a:srgbClr val="3D3D3D"/>
                </a:solidFill>
              </a:defRPr>
            </a:pPr>
            <a:r>
              <a:t>Retain-flaggan: brokern sparar senaste meddelandet på ett topic, så en klient som ansluter senare får "läget just nu" direkt.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Title 1"/>
          <p:cNvSpPr txBox="1"/>
          <p:nvPr>
            <p:ph type="title"/>
          </p:nvPr>
        </p:nvSpPr>
        <p:spPr>
          <a:xfrm>
            <a:off x="575894" y="729657"/>
            <a:ext cx="11029616" cy="988334"/>
          </a:xfrm>
          <a:prstGeom prst="rect">
            <a:avLst/>
          </a:prstGeom>
        </p:spPr>
        <p:txBody>
          <a:bodyPr/>
          <a:lstStyle/>
          <a:p>
            <a:pPr/>
            <a:r>
              <a:t>Anslutningen: vad klienten säger till brokern</a:t>
            </a:r>
          </a:p>
        </p:txBody>
      </p:sp>
      <p:graphicFrame>
        <p:nvGraphicFramePr>
          <p:cNvPr id="204" name="Table 2"/>
          <p:cNvGraphicFramePr/>
          <p:nvPr/>
        </p:nvGraphicFramePr>
        <p:xfrm>
          <a:off x="581025" y="1875400"/>
          <a:ext cx="11029950" cy="31200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2300000"/>
                <a:gridCol w="4900000"/>
                <a:gridCol w="3829950"/>
              </a:tblGrid>
              <a:tr h="52000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Inställning</a:t>
                      </a:r>
                    </a:p>
                  </a:txBody>
                  <a:tcPr marL="30000" marR="30000" marT="30000" marB="3000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Vad det är</a:t>
                      </a:r>
                    </a:p>
                  </a:txBody>
                  <a:tcPr marL="30000" marR="30000" marT="30000" marB="3000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Vad du ska välja</a:t>
                      </a:r>
                    </a:p>
                  </a:txBody>
                  <a:tcPr marL="30000" marR="30000" marT="30000" marB="30000" anchor="t" anchorCtr="0" horzOverflow="overflow"/>
                </a:tc>
              </a:tr>
              <a:tr h="52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3D3D3D"/>
                          </a:solidFill>
                        </a:rPr>
                        <a:t>clientId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3D3D3D"/>
                          </a:solidFill>
                        </a:rPr>
                        <a:t>Klientens namn på brokern. Måste vara unikt.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3D3D3D"/>
                          </a:solidFill>
                        </a:rPr>
                        <a:t>fornamn-esp, fornamn-webb-&lt;slumptal&gt;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3D3D3D"/>
                          </a:solidFill>
                        </a:rPr>
                        <a:t>keep-alive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3D3D3D"/>
                          </a:solidFill>
                        </a:rPr>
                        <a:t>Hur ofta klienten pingar så brokern vet att den lever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3D3D3D"/>
                          </a:solidFill>
                        </a:rPr>
                        <a:t>Standard (15–60 s) räcker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EBEBEB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3D3D3D"/>
                          </a:solidFill>
                        </a:rPr>
                        <a:t>clean session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3D3D3D"/>
                          </a:solidFill>
                        </a:rPr>
                        <a:t>true = börja om varje gång. false = brokern köar medan du är borta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3D3D3D"/>
                          </a:solidFill>
                        </a:rPr>
                        <a:t>true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3D3D3D"/>
                          </a:solidFill>
                        </a:rPr>
                        <a:t>last will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3D3D3D"/>
                          </a:solidFill>
                        </a:rPr>
                        <a:t>Meddelande brokern skickar åt dig om du försvinner utan att koppla ner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3D3D3D"/>
                          </a:solidFill>
                        </a:rPr>
                        <a:t>fornamn/status = offline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EBEBEB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3D3D3D"/>
                          </a:solidFill>
                        </a:rPr>
                        <a:t>användare / lösenord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3D3D3D"/>
                          </a:solidFill>
                        </a:rPr>
                        <a:t>Inloggning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3D3D3D"/>
                          </a:solidFill>
                        </a:rPr>
                        <a:t>Skolans broker: inget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5" name="TextBox 3"/>
          <p:cNvSpPr txBox="1"/>
          <p:nvPr/>
        </p:nvSpPr>
        <p:spPr>
          <a:xfrm>
            <a:off x="626744" y="5099999"/>
            <a:ext cx="10938511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3D3D3D"/>
                </a:solidFill>
              </a:defRPr>
            </a:pPr>
            <a:r>
              <a:t>Biblioteken återansluter automatiskt när WiFi hackar — men prenumerationerna måste göras om. Därför ligger subscribe() i onConnectionEstablished() på ESP:n och i client.on("connect") på webben — aldrig i setup().</a:t>
            </a:r>
          </a:p>
          <a:p>
            <a:pPr>
              <a:defRPr sz="1300">
                <a:solidFill>
                  <a:srgbClr val="3D3D3D"/>
                </a:solidFill>
              </a:defRPr>
            </a:pPr>
            <a:r>
              <a:t>Två klienter med samma clientId sparkar ut varandra i en oändlig loop. Vanligaste "mystiska" felet.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itle 1"/>
          <p:cNvSpPr txBox="1"/>
          <p:nvPr>
            <p:ph type="title"/>
          </p:nvPr>
        </p:nvSpPr>
        <p:spPr>
          <a:xfrm>
            <a:off x="575894" y="729657"/>
            <a:ext cx="11029616" cy="988334"/>
          </a:xfrm>
          <a:prstGeom prst="rect">
            <a:avLst/>
          </a:prstGeom>
        </p:spPr>
        <p:txBody>
          <a:bodyPr/>
          <a:lstStyle/>
          <a:p>
            <a:pPr/>
            <a:r>
              <a:t>QoS och transport</a:t>
            </a:r>
          </a:p>
        </p:txBody>
      </p:sp>
      <p:graphicFrame>
        <p:nvGraphicFramePr>
          <p:cNvPr id="208" name="Table 2"/>
          <p:cNvGraphicFramePr/>
          <p:nvPr/>
        </p:nvGraphicFramePr>
        <p:xfrm>
          <a:off x="581025" y="2041300"/>
          <a:ext cx="5300001" cy="17200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600000"/>
                <a:gridCol w="2500000"/>
                <a:gridCol w="2200000"/>
              </a:tblGrid>
              <a:tr h="43000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QoS</a:t>
                      </a:r>
                    </a:p>
                  </a:txBody>
                  <a:tcPr marL="30000" marR="30000" marT="30000" marB="3000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Betyder</a:t>
                      </a:r>
                    </a:p>
                  </a:txBody>
                  <a:tcPr marL="30000" marR="30000" marT="30000" marB="3000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Använd till</a:t>
                      </a:r>
                    </a:p>
                  </a:txBody>
                  <a:tcPr marL="30000" marR="30000" marT="30000" marB="30000" anchor="t" anchorCtr="0" horzOverflow="overflow"/>
                </a:tc>
              </a:tr>
              <a:tr h="43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3D3D3D"/>
                          </a:solidFill>
                        </a:rPr>
                        <a:t>0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D3D3D"/>
                          </a:solidFill>
                        </a:rPr>
                        <a:t>Skicka och glöm. Snabbast, kan tappas.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D3D3D"/>
                          </a:solidFill>
                        </a:rPr>
                        <a:t>Sensorvärden som kommer igen snart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3D3D3D"/>
                          </a:solidFill>
                        </a:rPr>
                        <a:t>1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D3D3D"/>
                          </a:solidFill>
                        </a:rPr>
                        <a:t>Fram minst en gång (kan dubbleras)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D3D3D"/>
                          </a:solidFill>
                        </a:rPr>
                        <a:t>Kommandon: lampa on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EBEBEB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3D3D3D"/>
                          </a:solidFill>
                        </a:rPr>
                        <a:t>2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D3D3D"/>
                          </a:solidFill>
                        </a:rPr>
                        <a:t>Fram exakt en gång. Långsammast.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D3D3D"/>
                          </a:solidFill>
                        </a:rPr>
                        <a:t>Sällan i skolan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9" name="Table 3"/>
          <p:cNvGraphicFramePr/>
          <p:nvPr/>
        </p:nvGraphicFramePr>
        <p:xfrm>
          <a:off x="6181025" y="2041300"/>
          <a:ext cx="5429950" cy="2150000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1899999"/>
                <a:gridCol w="700000"/>
                <a:gridCol w="2829950"/>
              </a:tblGrid>
              <a:tr h="43000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Adress</a:t>
                      </a:r>
                    </a:p>
                  </a:txBody>
                  <a:tcPr marL="30000" marR="30000" marT="30000" marB="3000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Port</a:t>
                      </a:r>
                    </a:p>
                  </a:txBody>
                  <a:tcPr marL="30000" marR="30000" marT="30000" marB="3000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Vem</a:t>
                      </a:r>
                    </a:p>
                  </a:txBody>
                  <a:tcPr marL="30000" marR="30000" marT="30000" marB="30000" anchor="t" anchorCtr="0" horzOverflow="overflow"/>
                </a:tc>
              </a:tr>
              <a:tr h="43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3D3D3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mqtt://host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D3D3D"/>
                          </a:solidFill>
                        </a:rPr>
                        <a:t>1883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D3D3D"/>
                          </a:solidFill>
                        </a:rPr>
                        <a:t>ESP8266, Python, mosquitto_pub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3D3D3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mqtts://host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D3D3D"/>
                          </a:solidFill>
                        </a:rPr>
                        <a:t>8883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D3D3D"/>
                          </a:solidFill>
                        </a:rPr>
                        <a:t>Samma, med TLS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EBEBEB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3D3D3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ws://host:9001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D3D3D"/>
                          </a:solidFill>
                        </a:rPr>
                        <a:t>9001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D3D3D"/>
                          </a:solidFill>
                        </a:rPr>
                        <a:t>Webbläsare på http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3D3D3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wss://host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D3D3D"/>
                          </a:solidFill>
                        </a:rPr>
                        <a:t>443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D3D3D"/>
                          </a:solidFill>
                        </a:rPr>
                        <a:t>Webbläsare på https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EBEBEB"/>
                    </a:solidFill>
                  </a:tcPr>
                </a:tc>
              </a:tr>
            </a:tbl>
          </a:graphicData>
        </a:graphic>
      </p:graphicFrame>
      <p:sp>
        <p:nvSpPr>
          <p:cNvPr id="210" name="TextBox 4"/>
          <p:cNvSpPr txBox="1"/>
          <p:nvPr/>
        </p:nvSpPr>
        <p:spPr>
          <a:xfrm>
            <a:off x="626744" y="4199999"/>
            <a:ext cx="10938511" cy="95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400">
                <a:solidFill>
                  <a:srgbClr val="3D3D3D"/>
                </a:solidFill>
              </a:defRPr>
            </a:pPr>
            <a:r>
              <a:t>Standard är QoS 0 i alla bibliotek och det räcker nästan alltid.</a:t>
            </a:r>
          </a:p>
          <a:p>
            <a:pPr>
              <a:defRPr sz="1400">
                <a:solidFill>
                  <a:srgbClr val="3D3D3D"/>
                </a:solidFill>
              </a:defRPr>
            </a:pPr>
          </a:p>
          <a:p>
            <a:pPr>
              <a:defRPr sz="1400">
                <a:solidFill>
                  <a:srgbClr val="3D3D3D"/>
                </a:solidFill>
              </a:defRPr>
            </a:pPr>
            <a:r>
              <a:t>Webbläsare kan inte öppna vanliga TCP-anslutningar — därför WebSockets. Och en sida laddad över https får inte öppna ws:// ("mixed content"). Det är orsak nummer ett till "det fungerar lokalt men inte på GitHub Pages": där måste det vara wss://.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itle 1"/>
          <p:cNvSpPr txBox="1"/>
          <p:nvPr>
            <p:ph type="title"/>
          </p:nvPr>
        </p:nvSpPr>
        <p:spPr>
          <a:xfrm>
            <a:off x="575894" y="729657"/>
            <a:ext cx="11029616" cy="988334"/>
          </a:xfrm>
          <a:prstGeom prst="rect">
            <a:avLst/>
          </a:prstGeom>
        </p:spPr>
        <p:txBody>
          <a:bodyPr/>
          <a:lstStyle/>
          <a:p>
            <a:pPr/>
            <a:r>
              <a:t>Skolans broker</a:t>
            </a:r>
          </a:p>
        </p:txBody>
      </p:sp>
      <p:graphicFrame>
        <p:nvGraphicFramePr>
          <p:cNvPr id="213" name="Table 2"/>
          <p:cNvGraphicFramePr/>
          <p:nvPr/>
        </p:nvGraphicFramePr>
        <p:xfrm>
          <a:off x="581025" y="1900800"/>
          <a:ext cx="11029950" cy="23500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600000"/>
                <a:gridCol w="5400000"/>
                <a:gridCol w="2029949"/>
              </a:tblGrid>
              <a:tr h="47000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Klient</a:t>
                      </a:r>
                    </a:p>
                  </a:txBody>
                  <a:tcPr marL="30000" marR="30000" marT="30000" marB="3000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Adress</a:t>
                      </a:r>
                    </a:p>
                  </a:txBody>
                  <a:tcPr marL="30000" marR="30000" marT="30000" marB="3000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Inloggning</a:t>
                      </a:r>
                    </a:p>
                  </a:txBody>
                  <a:tcPr marL="30000" marR="30000" marT="30000" marB="30000" anchor="t" anchorCtr="0" horzOverflow="overflow"/>
                </a:tc>
              </a:tr>
              <a:tr h="47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3D3D3D"/>
                          </a:solidFill>
                        </a:rPr>
                        <a:t>ESP8266 / Arduino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3D3D3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mqtt-broker.cloud.mustini.com`  port 1883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3D3D3D"/>
                          </a:solidFill>
                        </a:rPr>
                        <a:t>ingen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3D3D3D"/>
                          </a:solidFill>
                        </a:rPr>
                        <a:t>Webbsida på http (quasar dev, Live Server)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3D3D3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ws://mqtt-broker.cloud.mustini.com:9001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3D3D3D"/>
                          </a:solidFill>
                        </a:rPr>
                        <a:t>ingen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EBEBEB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3D3D3D"/>
                          </a:solidFill>
                        </a:rPr>
                        <a:t>Webbsida på https (GitHub Pages)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3D3D3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wss://mqtt-broker.cloud.mustini.com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3D3D3D"/>
                          </a:solidFill>
                        </a:rPr>
                        <a:t>ingen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3D3D3D"/>
                          </a:solidFill>
                        </a:rPr>
                        <a:t>Terminal / MQTTX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3D3D3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mqtt-broker.cloud.mustini.com:1883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3D3D3D"/>
                          </a:solidFill>
                        </a:rPr>
                        <a:t>ingen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EBEBEB"/>
                    </a:solidFill>
                  </a:tcPr>
                </a:tc>
              </a:tr>
            </a:tbl>
          </a:graphicData>
        </a:graphic>
      </p:graphicFrame>
      <p:grpSp>
        <p:nvGrpSpPr>
          <p:cNvPr id="216" name="Rounded Rectangle 3"/>
          <p:cNvGrpSpPr/>
          <p:nvPr/>
        </p:nvGrpSpPr>
        <p:grpSpPr>
          <a:xfrm>
            <a:off x="581025" y="4349999"/>
            <a:ext cx="3550000" cy="1300001"/>
            <a:chOff x="0" y="0"/>
            <a:chExt cx="3549999" cy="1300000"/>
          </a:xfrm>
        </p:grpSpPr>
        <p:sp>
          <p:nvSpPr>
            <p:cNvPr id="214" name="Rounded Rectangle"/>
            <p:cNvSpPr/>
            <p:nvPr/>
          </p:nvSpPr>
          <p:spPr>
            <a:xfrm>
              <a:off x="0" y="0"/>
              <a:ext cx="3550000" cy="1300001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15" name="1. Eget prefix…"/>
            <p:cNvSpPr txBox="1"/>
            <p:nvPr/>
          </p:nvSpPr>
          <p:spPr>
            <a:xfrm>
              <a:off x="77741" y="312180"/>
              <a:ext cx="3394519" cy="675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500">
                  <a:solidFill>
                    <a:srgbClr val="FFFFFF"/>
                  </a:solidFill>
                </a:defRPr>
              </a:pPr>
              <a:r>
                <a:t>1. Eget prefix</a:t>
              </a:r>
            </a:p>
            <a:p>
              <a:pPr algn="ctr">
                <a:defRPr sz="1200">
                  <a:solidFill>
                    <a:srgbClr val="FFFFFF"/>
                  </a:solidFill>
                </a:defRPr>
              </a:pPr>
              <a:r>
                <a:t>fornamn/… på alla topics.</a:t>
              </a:r>
            </a:p>
            <a:p>
              <a:pPr algn="ctr">
                <a:defRPr sz="1200">
                  <a:solidFill>
                    <a:srgbClr val="FFFFFF"/>
                  </a:solidFill>
                </a:defRPr>
              </a:pPr>
              <a:r>
                <a:t>Annars blandas ni ihop.</a:t>
              </a:r>
            </a:p>
          </p:txBody>
        </p:sp>
      </p:grpSp>
      <p:grpSp>
        <p:nvGrpSpPr>
          <p:cNvPr id="219" name="Rounded Rectangle 4"/>
          <p:cNvGrpSpPr/>
          <p:nvPr/>
        </p:nvGrpSpPr>
        <p:grpSpPr>
          <a:xfrm>
            <a:off x="4281025" y="4349999"/>
            <a:ext cx="3550001" cy="1300001"/>
            <a:chOff x="0" y="0"/>
            <a:chExt cx="3549999" cy="1300000"/>
          </a:xfrm>
        </p:grpSpPr>
        <p:sp>
          <p:nvSpPr>
            <p:cNvPr id="217" name="Rounded Rectangle"/>
            <p:cNvSpPr/>
            <p:nvPr/>
          </p:nvSpPr>
          <p:spPr>
            <a:xfrm>
              <a:off x="0" y="0"/>
              <a:ext cx="3550000" cy="1300001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18" name="2. Unikt clientId…"/>
            <p:cNvSpPr txBox="1"/>
            <p:nvPr/>
          </p:nvSpPr>
          <p:spPr>
            <a:xfrm>
              <a:off x="77741" y="312180"/>
              <a:ext cx="3394519" cy="675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500">
                  <a:solidFill>
                    <a:srgbClr val="FFFFFF"/>
                  </a:solidFill>
                </a:defRPr>
              </a:pPr>
              <a:r>
                <a:t>2. Unikt clientId</a:t>
              </a:r>
            </a:p>
            <a:p>
              <a:pPr algn="ctr">
                <a:defRPr sz="1200">
                  <a:solidFill>
                    <a:srgbClr val="FFFFFF"/>
                  </a:solidFill>
                </a:defRPr>
              </a:pPr>
              <a:r>
                <a:t>Per klient och flik.</a:t>
              </a:r>
            </a:p>
            <a:p>
              <a:pPr algn="ctr">
                <a:defRPr sz="1200">
                  <a:solidFill>
                    <a:srgbClr val="FFFFFF"/>
                  </a:solidFill>
                </a:defRPr>
              </a:pPr>
              <a:r>
                <a:t>Annars sparkar ni ut varandra.</a:t>
              </a:r>
            </a:p>
          </p:txBody>
        </p:sp>
      </p:grpSp>
      <p:grpSp>
        <p:nvGrpSpPr>
          <p:cNvPr id="222" name="Rounded Rectangle 5"/>
          <p:cNvGrpSpPr/>
          <p:nvPr/>
        </p:nvGrpSpPr>
        <p:grpSpPr>
          <a:xfrm>
            <a:off x="7981025" y="4349999"/>
            <a:ext cx="3550001" cy="1300001"/>
            <a:chOff x="0" y="0"/>
            <a:chExt cx="3549999" cy="1300000"/>
          </a:xfrm>
        </p:grpSpPr>
        <p:sp>
          <p:nvSpPr>
            <p:cNvPr id="220" name="Rounded Rectangle"/>
            <p:cNvSpPr/>
            <p:nvPr/>
          </p:nvSpPr>
          <p:spPr>
            <a:xfrm>
              <a:off x="0" y="0"/>
              <a:ext cx="3550000" cy="1300001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21" name="3. Inget känsligt…"/>
            <p:cNvSpPr txBox="1"/>
            <p:nvPr/>
          </p:nvSpPr>
          <p:spPr>
            <a:xfrm>
              <a:off x="77741" y="312180"/>
              <a:ext cx="3394519" cy="675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500">
                  <a:solidFill>
                    <a:srgbClr val="FFFFFF"/>
                  </a:solidFill>
                </a:defRPr>
              </a:pPr>
              <a:r>
                <a:t>3. Inget känsligt</a:t>
              </a:r>
            </a:p>
            <a:p>
              <a:pPr algn="ctr">
                <a:defRPr sz="1200">
                  <a:solidFill>
                    <a:srgbClr val="FFFFFF"/>
                  </a:solidFill>
                </a:defRPr>
              </a:pPr>
              <a:r>
                <a:t>Alla på internet kan läsa</a:t>
              </a:r>
            </a:p>
            <a:p>
              <a:pPr algn="ctr">
                <a:defRPr sz="1200">
                  <a:solidFill>
                    <a:srgbClr val="FFFFFF"/>
                  </a:solidFill>
                </a:defRPr>
              </a:pPr>
              <a:r>
                <a:t>och skriva allt.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itle 1"/>
          <p:cNvSpPr txBox="1"/>
          <p:nvPr>
            <p:ph type="title"/>
          </p:nvPr>
        </p:nvSpPr>
        <p:spPr>
          <a:xfrm>
            <a:off x="575894" y="729657"/>
            <a:ext cx="11029616" cy="988334"/>
          </a:xfrm>
          <a:prstGeom prst="rect">
            <a:avLst/>
          </a:prstGeom>
        </p:spPr>
        <p:txBody>
          <a:bodyPr/>
          <a:lstStyle/>
          <a:p>
            <a:pPr/>
            <a:r>
              <a:t>Arduino / ESP8266: ansluta</a:t>
            </a:r>
          </a:p>
        </p:txBody>
      </p:sp>
      <p:grpSp>
        <p:nvGrpSpPr>
          <p:cNvPr id="229" name="Rounded Rectangle 2"/>
          <p:cNvGrpSpPr/>
          <p:nvPr/>
        </p:nvGrpSpPr>
        <p:grpSpPr>
          <a:xfrm>
            <a:off x="581025" y="1978599"/>
            <a:ext cx="6900000" cy="3900001"/>
            <a:chOff x="0" y="0"/>
            <a:chExt cx="6899999" cy="3899999"/>
          </a:xfrm>
        </p:grpSpPr>
        <p:sp>
          <p:nvSpPr>
            <p:cNvPr id="227" name="Rounded Rectangle"/>
            <p:cNvSpPr/>
            <p:nvPr/>
          </p:nvSpPr>
          <p:spPr>
            <a:xfrm>
              <a:off x="0" y="0"/>
              <a:ext cx="6900000" cy="3900000"/>
            </a:xfrm>
            <a:prstGeom prst="roundRect">
              <a:avLst>
                <a:gd name="adj" fmla="val 4000"/>
              </a:avLst>
            </a:prstGeom>
            <a:solidFill>
              <a:srgbClr val="1E25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28" name="#include &quot;EspMQTTClient.h&quot;…"/>
            <p:cNvSpPr txBox="1"/>
            <p:nvPr/>
          </p:nvSpPr>
          <p:spPr>
            <a:xfrm>
              <a:off x="85691" y="45691"/>
              <a:ext cx="6728619" cy="3598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9999" tIns="109999" rIns="109999" bIns="109999" numCol="1" anchor="t">
              <a:spAutoFit/>
            </a:bodyPr>
            <a:lstStyle/>
            <a:p>
              <a:pPr>
                <a:defRPr sz="1200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#include "EspMQTTClient.h"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200">
                  <a:solidFill>
                    <a:srgbClr val="E6EDF3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200">
                  <a:solidFill>
                    <a:srgbClr val="E6EDF3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EspMQTTClient client(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200">
                  <a:solidFill>
                    <a:srgbClr val="E6EDF3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"Hitachigymnasiet_2.4", "wifi-lösenord",   // WiFi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200">
                  <a:solidFill>
                    <a:srgbClr val="E6EDF3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"mqtt-broker.cloud.mustini.com",            // broker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200">
                  <a:solidFill>
                    <a:srgbClr val="E6EDF3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"", "",                                     // användare, lösenord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200">
                  <a:solidFill>
                    <a:srgbClr val="E6EDF3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"fornamn-esp",                              // clientId – unikt!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200">
                  <a:solidFill>
                    <a:srgbClr val="E6EDF3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1883                                        // port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200">
                  <a:solidFill>
                    <a:srgbClr val="E6EDF3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);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200">
                  <a:solidFill>
                    <a:srgbClr val="E6EDF3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200">
                  <a:solidFill>
                    <a:srgbClr val="E6EDF3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void setup() {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200">
                  <a:solidFill>
                    <a:srgbClr val="E6EDF3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Serial.begin(115200);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200">
                  <a:solidFill>
                    <a:srgbClr val="E6EDF3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pinMode(LED_BUILTIN, OUTPUT);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200">
                  <a:solidFill>
                    <a:srgbClr val="E6EDF3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client.enableDebuggingMessages();  // status i Serial Monitor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200">
                  <a:solidFill>
                    <a:srgbClr val="E6EDF3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}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200">
                  <a:solidFill>
                    <a:srgbClr val="E6EDF3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200">
                  <a:solidFill>
                    <a:srgbClr val="E6EDF3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void loop() {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200">
                  <a:solidFill>
                    <a:srgbClr val="E6EDF3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client.loop();   // hela tiden – inga delay()!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200">
                  <a:solidFill>
                    <a:srgbClr val="E6EDF3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}</a:t>
              </a:r>
            </a:p>
          </p:txBody>
        </p:sp>
      </p:grpSp>
      <p:sp>
        <p:nvSpPr>
          <p:cNvPr id="230" name="TextBox 3"/>
          <p:cNvSpPr txBox="1"/>
          <p:nvPr/>
        </p:nvSpPr>
        <p:spPr>
          <a:xfrm>
            <a:off x="7776744" y="1978599"/>
            <a:ext cx="3788511" cy="23549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400"/>
              </a:spcBef>
              <a:defRPr b="1" sz="1400"/>
            </a:pPr>
            <a:r>
              <a:t>•  Bibliotek: EspMQTTClient</a:t>
            </a:r>
          </a:p>
          <a:p>
            <a:pPr lvl="1">
              <a:spcBef>
                <a:spcPts val="400"/>
              </a:spcBef>
              <a:defRPr sz="1200"/>
            </a:pPr>
            <a:r>
              <a:t>      –  Library Manager → sök "EspMQTTClient". Drar in PubSubClient.</a:t>
            </a:r>
          </a:p>
          <a:p>
            <a:pPr>
              <a:spcBef>
                <a:spcPts val="400"/>
              </a:spcBef>
              <a:defRPr b="1" sz="1400"/>
            </a:pPr>
            <a:r>
              <a:t>•  Sköter åt dig</a:t>
            </a:r>
          </a:p>
          <a:p>
            <a:pPr lvl="1">
              <a:spcBef>
                <a:spcPts val="400"/>
              </a:spcBef>
              <a:defRPr sz="1200"/>
            </a:pPr>
            <a:r>
              <a:t>      –  WiFi-anslutning</a:t>
            </a:r>
          </a:p>
          <a:p>
            <a:pPr lvl="1">
              <a:spcBef>
                <a:spcPts val="400"/>
              </a:spcBef>
              <a:defRPr sz="1200"/>
            </a:pPr>
            <a:r>
              <a:t>      –  Broker-anslutning</a:t>
            </a:r>
          </a:p>
          <a:p>
            <a:pPr lvl="1">
              <a:spcBef>
                <a:spcPts val="400"/>
              </a:spcBef>
              <a:defRPr sz="1200"/>
            </a:pPr>
            <a:r>
              <a:t>      –  Återanslutning när nätet hackar</a:t>
            </a:r>
          </a:p>
          <a:p>
            <a:pPr>
              <a:spcBef>
                <a:spcPts val="400"/>
              </a:spcBef>
              <a:defRPr b="1" sz="1400"/>
            </a:pPr>
            <a:r>
              <a:t>•  client.loop() i loop()</a:t>
            </a:r>
          </a:p>
          <a:p>
            <a:pPr lvl="1">
              <a:spcBef>
                <a:spcPts val="400"/>
              </a:spcBef>
              <a:defRPr sz="1200"/>
            </a:pPr>
            <a:r>
              <a:t>      –  Det är där paket tas emot. En delay(1000) = tappad anslutning.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Title 1"/>
          <p:cNvSpPr txBox="1"/>
          <p:nvPr>
            <p:ph type="title"/>
          </p:nvPr>
        </p:nvSpPr>
        <p:spPr>
          <a:xfrm>
            <a:off x="575894" y="729657"/>
            <a:ext cx="11029616" cy="988334"/>
          </a:xfrm>
          <a:prstGeom prst="rect">
            <a:avLst/>
          </a:prstGeom>
        </p:spPr>
        <p:txBody>
          <a:bodyPr/>
          <a:lstStyle/>
          <a:p>
            <a:pPr/>
            <a:r>
              <a:t>Arduino / ESP8266: prenumerera och publicera</a:t>
            </a:r>
          </a:p>
        </p:txBody>
      </p:sp>
      <p:grpSp>
        <p:nvGrpSpPr>
          <p:cNvPr id="235" name="Rounded Rectangle 2"/>
          <p:cNvGrpSpPr/>
          <p:nvPr/>
        </p:nvGrpSpPr>
        <p:grpSpPr>
          <a:xfrm>
            <a:off x="581025" y="1978599"/>
            <a:ext cx="6900000" cy="3600001"/>
            <a:chOff x="0" y="0"/>
            <a:chExt cx="6899999" cy="3600000"/>
          </a:xfrm>
        </p:grpSpPr>
        <p:sp>
          <p:nvSpPr>
            <p:cNvPr id="233" name="Rounded Rectangle"/>
            <p:cNvSpPr/>
            <p:nvPr/>
          </p:nvSpPr>
          <p:spPr>
            <a:xfrm>
              <a:off x="0" y="0"/>
              <a:ext cx="6900000" cy="3600001"/>
            </a:xfrm>
            <a:prstGeom prst="roundRect">
              <a:avLst>
                <a:gd name="adj" fmla="val 4000"/>
              </a:avLst>
            </a:prstGeom>
            <a:solidFill>
              <a:srgbClr val="1E25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34" name="// Körs varje gång vi (åter)ansluter till brokern…"/>
            <p:cNvSpPr txBox="1"/>
            <p:nvPr/>
          </p:nvSpPr>
          <p:spPr>
            <a:xfrm>
              <a:off x="82176" y="42175"/>
              <a:ext cx="6735649" cy="3242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9999" tIns="109999" rIns="109999" bIns="109999" numCol="1" anchor="t">
              <a:spAutoFit/>
            </a:bodyPr>
            <a:lstStyle/>
            <a:p>
              <a:pPr>
                <a:defRPr sz="1200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// Körs varje gång vi (åter)ansluter till brokern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200">
                  <a:solidFill>
                    <a:srgbClr val="E6EDF3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void onConnectionEstablished() {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200">
                  <a:solidFill>
                    <a:srgbClr val="E6EDF3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200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// Prenumerera: lambdan körs för varje meddelande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200">
                  <a:solidFill>
                    <a:srgbClr val="E6EDF3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client.subscribe("fornamn/lampa", [](const String&amp; payload) {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200">
                  <a:solidFill>
                    <a:srgbClr val="E6EDF3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Serial.println("Fick: " + payload);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200">
                  <a:solidFill>
                    <a:srgbClr val="E6EDF3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digitalWrite(LED_BUILTIN, payload == "on" ? LOW : HIGH);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200">
                  <a:solidFill>
                    <a:srgbClr val="E6EDF3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});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200">
                  <a:solidFill>
                    <a:srgbClr val="E6EDF3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200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// Publicera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200">
                  <a:solidFill>
                    <a:srgbClr val="E6EDF3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client.publish("fornamn/status", "online");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200">
                  <a:solidFill>
                    <a:srgbClr val="E6EDF3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200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// Publicera om 5 sekunder utan delay()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200">
                  <a:solidFill>
                    <a:srgbClr val="E6EDF3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client.executeDelayed(5000, []() {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200">
                  <a:solidFill>
                    <a:srgbClr val="E6EDF3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client.publish("fornamn/temp", String(23.5));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200">
                  <a:solidFill>
                    <a:srgbClr val="E6EDF3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});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200">
                  <a:solidFill>
                    <a:srgbClr val="E6EDF3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}</a:t>
              </a:r>
            </a:p>
          </p:txBody>
        </p:sp>
      </p:grpSp>
      <p:sp>
        <p:nvSpPr>
          <p:cNvPr id="236" name="TextBox 3"/>
          <p:cNvSpPr txBox="1"/>
          <p:nvPr/>
        </p:nvSpPr>
        <p:spPr>
          <a:xfrm>
            <a:off x="7776744" y="1978599"/>
            <a:ext cx="3788511" cy="2428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400"/>
              </a:spcBef>
              <a:defRPr b="1" sz="1400"/>
            </a:pPr>
            <a:r>
              <a:t>•  subscribe i onConnectionEstablished()</a:t>
            </a:r>
          </a:p>
          <a:p>
            <a:pPr lvl="1">
              <a:spcBef>
                <a:spcPts val="400"/>
              </a:spcBef>
              <a:defRPr sz="1200"/>
            </a:pPr>
            <a:r>
              <a:t>      –  Inte i setup() — där finns ingen anslutning än.</a:t>
            </a:r>
          </a:p>
          <a:p>
            <a:pPr lvl="1">
              <a:spcBef>
                <a:spcPts val="400"/>
              </a:spcBef>
              <a:defRPr sz="1200"/>
            </a:pPr>
            <a:r>
              <a:t>      –  Görs om automatiskt vid återanslutning.</a:t>
            </a:r>
          </a:p>
          <a:p>
            <a:pPr>
              <a:spcBef>
                <a:spcPts val="400"/>
              </a:spcBef>
              <a:defRPr b="1" sz="1400"/>
            </a:pPr>
            <a:r>
              <a:t>•  payload är en String</a:t>
            </a:r>
          </a:p>
          <a:p>
            <a:pPr lvl="1">
              <a:spcBef>
                <a:spcPts val="400"/>
              </a:spcBef>
              <a:defRPr sz="1200"/>
            </a:pPr>
            <a:r>
              <a:t>      –  Jämför med ==, eller .toInt() / .toFloat().</a:t>
            </a:r>
          </a:p>
          <a:p>
            <a:pPr>
              <a:spcBef>
                <a:spcPts val="400"/>
              </a:spcBef>
              <a:defRPr b="1" sz="1400"/>
            </a:pPr>
            <a:r>
              <a:t>•  Inbyggda LED:en lyser vid LOW</a:t>
            </a:r>
          </a:p>
          <a:p>
            <a:pPr lvl="1">
              <a:spcBef>
                <a:spcPts val="400"/>
              </a:spcBef>
              <a:defRPr sz="1200"/>
            </a:pPr>
            <a:r>
              <a:t>      –  Klassisk fälla på ESP8266.</a:t>
            </a:r>
          </a:p>
          <a:p>
            <a:pPr>
              <a:spcBef>
                <a:spcPts val="400"/>
              </a:spcBef>
              <a:defRPr b="1" sz="1400"/>
            </a:pPr>
            <a:r>
              <a:t>•  Publicera lagom ofta</a:t>
            </a:r>
          </a:p>
          <a:p>
            <a:pPr lvl="1">
              <a:spcBef>
                <a:spcPts val="400"/>
              </a:spcBef>
              <a:defRPr sz="1200"/>
            </a:pPr>
            <a:r>
              <a:t>      –  10 ggr/s är fint. 1000 ggr/s är det inte.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Title 1"/>
          <p:cNvSpPr txBox="1"/>
          <p:nvPr>
            <p:ph type="title"/>
          </p:nvPr>
        </p:nvSpPr>
        <p:spPr>
          <a:xfrm>
            <a:off x="575894" y="729657"/>
            <a:ext cx="11029616" cy="988334"/>
          </a:xfrm>
          <a:prstGeom prst="rect">
            <a:avLst/>
          </a:prstGeom>
        </p:spPr>
        <p:txBody>
          <a:bodyPr/>
          <a:lstStyle/>
          <a:p>
            <a:pPr/>
            <a:r>
              <a:t>Webbsida: MQTT.js</a:t>
            </a:r>
          </a:p>
        </p:txBody>
      </p:sp>
      <p:grpSp>
        <p:nvGrpSpPr>
          <p:cNvPr id="243" name="Rounded Rectangle 2"/>
          <p:cNvGrpSpPr/>
          <p:nvPr/>
        </p:nvGrpSpPr>
        <p:grpSpPr>
          <a:xfrm>
            <a:off x="581025" y="2003999"/>
            <a:ext cx="6900000" cy="3900001"/>
            <a:chOff x="0" y="0"/>
            <a:chExt cx="6899999" cy="3899999"/>
          </a:xfrm>
        </p:grpSpPr>
        <p:sp>
          <p:nvSpPr>
            <p:cNvPr id="241" name="Rounded Rectangle"/>
            <p:cNvSpPr/>
            <p:nvPr/>
          </p:nvSpPr>
          <p:spPr>
            <a:xfrm>
              <a:off x="0" y="0"/>
              <a:ext cx="6900000" cy="3900000"/>
            </a:xfrm>
            <a:prstGeom prst="roundRect">
              <a:avLst>
                <a:gd name="adj" fmla="val 4000"/>
              </a:avLst>
            </a:prstGeom>
            <a:solidFill>
              <a:srgbClr val="1E253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42" name="&lt;script src=&quot;https://unpkg.com/mqtt/dist/mqtt.min.js&quot;&gt;&lt;/script&gt;…"/>
            <p:cNvSpPr txBox="1"/>
            <p:nvPr/>
          </p:nvSpPr>
          <p:spPr>
            <a:xfrm>
              <a:off x="85691" y="45691"/>
              <a:ext cx="6728619" cy="33583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9999" tIns="109999" rIns="109999" bIns="109999" numCol="1" anchor="t">
              <a:spAutoFit/>
            </a:bodyPr>
            <a:lstStyle/>
            <a:p>
              <a:pPr>
                <a:defRPr sz="1100">
                  <a:solidFill>
                    <a:srgbClr val="E6EDF3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&lt;script src="https://unpkg.com/mqtt/dist/mqtt.min.js"&gt;&lt;/script&gt;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E6EDF3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&lt;script&gt;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9CDCFE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// ws:// på http-sidor, wss:// på https-sidor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E6EDF3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const url = location.protocol === 'https:'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E6EDF3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? 'wss://mqtt-broker.cloud.mustini.com'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E6EDF3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: 'ws://mqtt-broker.cloud.mustini.com:9001'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E6EDF3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E6EDF3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const client = mqtt.connect(url, {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E6EDF3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clientId: 'fornamn-webb-' + Math.random().toString(16).slice(2, 8)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E6EDF3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})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E6EDF3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E6EDF3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client.on('connect', () =&gt; client.subscribe('fornamn/#'))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E6EDF3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E6EDF3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client.on('message', (topic, payload) =&gt; {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E6EDF3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console.log(topic, payload.toString())   // bytes → sträng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E6EDF3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})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E6EDF3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E6EDF3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knapp.onclick = () =&gt; client.publish('fornamn/lampa', 'on')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E6EDF3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&lt;/script&gt;</a:t>
              </a:r>
            </a:p>
          </p:txBody>
        </p:sp>
      </p:grpSp>
      <p:sp>
        <p:nvSpPr>
          <p:cNvPr id="244" name="TextBox 3"/>
          <p:cNvSpPr txBox="1"/>
          <p:nvPr/>
        </p:nvSpPr>
        <p:spPr>
          <a:xfrm>
            <a:off x="7776744" y="2003999"/>
            <a:ext cx="3788511" cy="273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400"/>
              </a:spcBef>
              <a:defRPr b="1" sz="1400"/>
            </a:pPr>
            <a:r>
              <a:t>•  Samma bibliotek i Node och webbläsare</a:t>
            </a:r>
          </a:p>
          <a:p>
            <a:pPr lvl="1">
              <a:spcBef>
                <a:spcPts val="400"/>
              </a:spcBef>
              <a:defRPr sz="1200"/>
            </a:pPr>
            <a:r>
              <a:t>      –  CDN i vanlig HTML, npm install mqtt i Vite/Quasar</a:t>
            </a:r>
          </a:p>
          <a:p>
            <a:pPr>
              <a:spcBef>
                <a:spcPts val="400"/>
              </a:spcBef>
              <a:defRPr b="1" sz="1400"/>
            </a:pPr>
            <a:r>
              <a:t>•  payload.toString()</a:t>
            </a:r>
          </a:p>
          <a:p>
            <a:pPr lvl="1">
              <a:spcBef>
                <a:spcPts val="400"/>
              </a:spcBef>
              <a:defRPr sz="1200"/>
            </a:pPr>
            <a:r>
              <a:t>      –  Annars får du en Uint8Array.</a:t>
            </a:r>
          </a:p>
          <a:p>
            <a:pPr>
              <a:spcBef>
                <a:spcPts val="400"/>
              </a:spcBef>
              <a:defRPr b="1" sz="1400"/>
            </a:pPr>
            <a:r>
              <a:t>•  Unikt clientId per flik</a:t>
            </a:r>
          </a:p>
          <a:p>
            <a:pPr lvl="1">
              <a:spcBef>
                <a:spcPts val="400"/>
              </a:spcBef>
              <a:defRPr sz="1200"/>
            </a:pPr>
            <a:r>
              <a:t>      –  Två flikar med samma id = oändlig återanslutning.</a:t>
            </a:r>
          </a:p>
          <a:p>
            <a:pPr>
              <a:spcBef>
                <a:spcPts val="400"/>
              </a:spcBef>
              <a:defRPr b="1" sz="1400"/>
            </a:pPr>
            <a:r>
              <a:t>•  Content-Security-Policy</a:t>
            </a:r>
          </a:p>
          <a:p>
            <a:pPr lvl="1">
              <a:spcBef>
                <a:spcPts val="400"/>
              </a:spcBef>
              <a:defRPr sz="1200"/>
            </a:pPr>
            <a:r>
              <a:t>      –  Har sidan en CSP måste brokern stå under connect-src, annars blockeras det tyst. Kolla konsolen (F12).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Title 1"/>
          <p:cNvSpPr txBox="1"/>
          <p:nvPr>
            <p:ph type="title"/>
          </p:nvPr>
        </p:nvSpPr>
        <p:spPr>
          <a:xfrm>
            <a:off x="575894" y="729657"/>
            <a:ext cx="11029616" cy="988334"/>
          </a:xfrm>
          <a:prstGeom prst="rect">
            <a:avLst/>
          </a:prstGeom>
        </p:spPr>
        <p:txBody>
          <a:bodyPr/>
          <a:lstStyle/>
          <a:p>
            <a:pPr/>
            <a:r>
              <a:t>Exempel i repot: chatten styr lampan</a:t>
            </a:r>
          </a:p>
        </p:txBody>
      </p:sp>
      <p:grpSp>
        <p:nvGrpSpPr>
          <p:cNvPr id="251" name="Rounded Rectangle 2"/>
          <p:cNvGrpSpPr/>
          <p:nvPr/>
        </p:nvGrpSpPr>
        <p:grpSpPr>
          <a:xfrm>
            <a:off x="581025" y="2099999"/>
            <a:ext cx="2600001" cy="1000001"/>
            <a:chOff x="0" y="0"/>
            <a:chExt cx="2600000" cy="1000000"/>
          </a:xfrm>
        </p:grpSpPr>
        <p:sp>
          <p:nvSpPr>
            <p:cNvPr id="249" name="Rounded Rectangle"/>
            <p:cNvSpPr/>
            <p:nvPr/>
          </p:nvSpPr>
          <p:spPr>
            <a:xfrm>
              <a:off x="0" y="0"/>
              <a:ext cx="2600001" cy="1000001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50" name="Webbsida…"/>
            <p:cNvSpPr txBox="1"/>
            <p:nvPr/>
          </p:nvSpPr>
          <p:spPr>
            <a:xfrm>
              <a:off x="63096" y="251079"/>
              <a:ext cx="2473808" cy="497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500">
                  <a:solidFill>
                    <a:srgbClr val="FFFFFF"/>
                  </a:solidFill>
                </a:defRPr>
              </a:pPr>
              <a:r>
                <a:t>Webbsida</a:t>
              </a:r>
            </a:p>
            <a:p>
              <a:pPr algn="ctr">
                <a:defRPr sz="1200">
                  <a:solidFill>
                    <a:srgbClr val="FFFFFF"/>
                  </a:solidFill>
                </a:defRPr>
              </a:pPr>
              <a:r>
                <a:t>quasar-mqtt</a:t>
              </a:r>
            </a:p>
          </p:txBody>
        </p:sp>
      </p:grpSp>
      <p:grpSp>
        <p:nvGrpSpPr>
          <p:cNvPr id="254" name="Right Arrow 3"/>
          <p:cNvGrpSpPr/>
          <p:nvPr/>
        </p:nvGrpSpPr>
        <p:grpSpPr>
          <a:xfrm>
            <a:off x="3231025" y="2250000"/>
            <a:ext cx="2000001" cy="300001"/>
            <a:chOff x="0" y="0"/>
            <a:chExt cx="2000000" cy="300000"/>
          </a:xfrm>
        </p:grpSpPr>
        <p:sp>
          <p:nvSpPr>
            <p:cNvPr id="252" name="Arrow"/>
            <p:cNvSpPr/>
            <p:nvPr/>
          </p:nvSpPr>
          <p:spPr>
            <a:xfrm>
              <a:off x="0" y="0"/>
              <a:ext cx="2000001" cy="300001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53" name="abbjetmus/chat"/>
            <p:cNvSpPr txBox="1"/>
            <p:nvPr/>
          </p:nvSpPr>
          <p:spPr>
            <a:xfrm>
              <a:off x="45720" y="34430"/>
              <a:ext cx="1833561" cy="231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900">
                  <a:solidFill>
                    <a:srgbClr val="FFFFFF"/>
                  </a:solidFill>
                </a:defRPr>
              </a:lvl1pPr>
            </a:lstStyle>
            <a:p>
              <a:pPr/>
              <a:r>
                <a:t>abbjetmus/chat</a:t>
              </a:r>
            </a:p>
          </p:txBody>
        </p:sp>
      </p:grpSp>
      <p:grpSp>
        <p:nvGrpSpPr>
          <p:cNvPr id="257" name="Left Arrow 4"/>
          <p:cNvGrpSpPr/>
          <p:nvPr/>
        </p:nvGrpSpPr>
        <p:grpSpPr>
          <a:xfrm>
            <a:off x="3231025" y="2650000"/>
            <a:ext cx="2000001" cy="300001"/>
            <a:chOff x="0" y="0"/>
            <a:chExt cx="2000000" cy="300000"/>
          </a:xfrm>
        </p:grpSpPr>
        <p:sp>
          <p:nvSpPr>
            <p:cNvPr id="255" name="Arrow"/>
            <p:cNvSpPr/>
            <p:nvPr/>
          </p:nvSpPr>
          <p:spPr>
            <a:xfrm>
              <a:off x="0" y="0"/>
              <a:ext cx="2000001" cy="300001"/>
            </a:xfrm>
            <a:prstGeom prst="leftArrow">
              <a:avLst>
                <a:gd name="adj1" fmla="val 50000"/>
                <a:gd name="adj2" fmla="val 50000"/>
              </a:avLst>
            </a:pr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56" name="abbjetmus/chat"/>
            <p:cNvSpPr txBox="1"/>
            <p:nvPr/>
          </p:nvSpPr>
          <p:spPr>
            <a:xfrm>
              <a:off x="120720" y="34430"/>
              <a:ext cx="1833561" cy="231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900">
                  <a:solidFill>
                    <a:srgbClr val="FFFFFF"/>
                  </a:solidFill>
                </a:defRPr>
              </a:lvl1pPr>
            </a:lstStyle>
            <a:p>
              <a:pPr/>
              <a:r>
                <a:t>abbjetmus/chat</a:t>
              </a:r>
            </a:p>
          </p:txBody>
        </p:sp>
      </p:grpSp>
      <p:grpSp>
        <p:nvGrpSpPr>
          <p:cNvPr id="260" name="Rounded Rectangle 5"/>
          <p:cNvGrpSpPr/>
          <p:nvPr/>
        </p:nvGrpSpPr>
        <p:grpSpPr>
          <a:xfrm>
            <a:off x="5281024" y="2000000"/>
            <a:ext cx="1900001" cy="1200001"/>
            <a:chOff x="0" y="0"/>
            <a:chExt cx="1899999" cy="1200000"/>
          </a:xfrm>
        </p:grpSpPr>
        <p:sp>
          <p:nvSpPr>
            <p:cNvPr id="258" name="Rounded Rectangle"/>
            <p:cNvSpPr/>
            <p:nvPr/>
          </p:nvSpPr>
          <p:spPr>
            <a:xfrm>
              <a:off x="0" y="0"/>
              <a:ext cx="1900000" cy="1200001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59" name="Broker"/>
            <p:cNvSpPr txBox="1"/>
            <p:nvPr/>
          </p:nvSpPr>
          <p:spPr>
            <a:xfrm>
              <a:off x="72859" y="439980"/>
              <a:ext cx="1754281" cy="320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500">
                  <a:solidFill>
                    <a:schemeClr val="accent1"/>
                  </a:solidFill>
                </a:defRPr>
              </a:lvl1pPr>
            </a:lstStyle>
            <a:p>
              <a:pPr/>
              <a:r>
                <a:t>Broker</a:t>
              </a:r>
            </a:p>
          </p:txBody>
        </p:sp>
      </p:grpSp>
      <p:grpSp>
        <p:nvGrpSpPr>
          <p:cNvPr id="263" name="Right Arrow 6"/>
          <p:cNvGrpSpPr/>
          <p:nvPr/>
        </p:nvGrpSpPr>
        <p:grpSpPr>
          <a:xfrm>
            <a:off x="7231025" y="2250000"/>
            <a:ext cx="2000001" cy="300001"/>
            <a:chOff x="0" y="0"/>
            <a:chExt cx="2000000" cy="300000"/>
          </a:xfrm>
        </p:grpSpPr>
        <p:sp>
          <p:nvSpPr>
            <p:cNvPr id="261" name="Arrow"/>
            <p:cNvSpPr/>
            <p:nvPr/>
          </p:nvSpPr>
          <p:spPr>
            <a:xfrm>
              <a:off x="0" y="0"/>
              <a:ext cx="2000001" cy="300001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62" name="abbjetmus/chat"/>
            <p:cNvSpPr txBox="1"/>
            <p:nvPr/>
          </p:nvSpPr>
          <p:spPr>
            <a:xfrm>
              <a:off x="45720" y="34430"/>
              <a:ext cx="1833561" cy="231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900">
                  <a:solidFill>
                    <a:srgbClr val="FFFFFF"/>
                  </a:solidFill>
                </a:defRPr>
              </a:lvl1pPr>
            </a:lstStyle>
            <a:p>
              <a:pPr/>
              <a:r>
                <a:t>abbjetmus/chat</a:t>
              </a:r>
            </a:p>
          </p:txBody>
        </p:sp>
      </p:grpSp>
      <p:grpSp>
        <p:nvGrpSpPr>
          <p:cNvPr id="266" name="Left Arrow 7"/>
          <p:cNvGrpSpPr/>
          <p:nvPr/>
        </p:nvGrpSpPr>
        <p:grpSpPr>
          <a:xfrm>
            <a:off x="7231025" y="2650000"/>
            <a:ext cx="2000001" cy="300001"/>
            <a:chOff x="0" y="0"/>
            <a:chExt cx="2000000" cy="300000"/>
          </a:xfrm>
        </p:grpSpPr>
        <p:sp>
          <p:nvSpPr>
            <p:cNvPr id="264" name="Arrow"/>
            <p:cNvSpPr/>
            <p:nvPr/>
          </p:nvSpPr>
          <p:spPr>
            <a:xfrm>
              <a:off x="0" y="0"/>
              <a:ext cx="2000001" cy="300001"/>
            </a:xfrm>
            <a:prstGeom prst="leftArrow">
              <a:avLst>
                <a:gd name="adj1" fmla="val 50000"/>
                <a:gd name="adj2" fmla="val 50000"/>
              </a:avLst>
            </a:pr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65" name="abbjetmus/chat"/>
            <p:cNvSpPr txBox="1"/>
            <p:nvPr/>
          </p:nvSpPr>
          <p:spPr>
            <a:xfrm>
              <a:off x="120720" y="34430"/>
              <a:ext cx="1833561" cy="231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900">
                  <a:solidFill>
                    <a:srgbClr val="FFFFFF"/>
                  </a:solidFill>
                </a:defRPr>
              </a:lvl1pPr>
            </a:lstStyle>
            <a:p>
              <a:pPr/>
              <a:r>
                <a:t>abbjetmus/chat</a:t>
              </a:r>
            </a:p>
          </p:txBody>
        </p:sp>
      </p:grpSp>
      <p:grpSp>
        <p:nvGrpSpPr>
          <p:cNvPr id="269" name="Rounded Rectangle 8"/>
          <p:cNvGrpSpPr/>
          <p:nvPr/>
        </p:nvGrpSpPr>
        <p:grpSpPr>
          <a:xfrm>
            <a:off x="9281024" y="2099999"/>
            <a:ext cx="2330001" cy="1000001"/>
            <a:chOff x="0" y="0"/>
            <a:chExt cx="2330000" cy="1000000"/>
          </a:xfrm>
        </p:grpSpPr>
        <p:sp>
          <p:nvSpPr>
            <p:cNvPr id="267" name="Rounded Rectangle"/>
            <p:cNvSpPr/>
            <p:nvPr/>
          </p:nvSpPr>
          <p:spPr>
            <a:xfrm>
              <a:off x="0" y="0"/>
              <a:ext cx="2330001" cy="1000001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68" name="ESP8266…"/>
            <p:cNvSpPr txBox="1"/>
            <p:nvPr/>
          </p:nvSpPr>
          <p:spPr>
            <a:xfrm>
              <a:off x="63096" y="251079"/>
              <a:ext cx="2203808" cy="497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500">
                  <a:solidFill>
                    <a:srgbClr val="FFFFFF"/>
                  </a:solidFill>
                </a:defRPr>
              </a:pPr>
              <a:r>
                <a:t>ESP8266</a:t>
              </a:r>
            </a:p>
            <a:p>
              <a:pPr algn="ctr">
                <a:defRPr sz="1200">
                  <a:solidFill>
                    <a:srgbClr val="FFFFFF"/>
                  </a:solidFill>
                </a:defRPr>
              </a:pPr>
              <a:r>
                <a:t>mqtt_arduino.ino</a:t>
              </a:r>
            </a:p>
          </p:txBody>
        </p:sp>
      </p:grpSp>
      <p:graphicFrame>
        <p:nvGraphicFramePr>
          <p:cNvPr id="270" name="Table 9"/>
          <p:cNvGraphicFramePr/>
          <p:nvPr/>
        </p:nvGraphicFramePr>
        <p:xfrm>
          <a:off x="581025" y="3600000"/>
          <a:ext cx="11029950" cy="24000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700000"/>
                <a:gridCol w="1500000"/>
                <a:gridCol w="8829950"/>
              </a:tblGrid>
              <a:tr h="40000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Steg</a:t>
                      </a:r>
                    </a:p>
                  </a:txBody>
                  <a:tcPr marL="30000" marR="30000" marT="30000" marB="3000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Vem</a:t>
                      </a:r>
                    </a:p>
                  </a:txBody>
                  <a:tcPr marL="30000" marR="30000" marT="30000" marB="3000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Vad</a:t>
                      </a:r>
                    </a:p>
                  </a:txBody>
                  <a:tcPr marL="30000" marR="30000" marT="30000" marB="30000" anchor="t" anchorCtr="0" horzOverflow="overflow"/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3D3D3D"/>
                          </a:solidFill>
                        </a:rPr>
                        <a:t>1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D3D3D"/>
                          </a:solidFill>
                        </a:rPr>
                        <a:t>Webbsidan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D3D3D"/>
                          </a:solidFill>
                        </a:rPr>
                        <a:t>Du skriver "on" → publicerar {"user":"salle","message":"on"}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3D3D3D"/>
                          </a:solidFill>
                        </a:rPr>
                        <a:t>2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D3D3D"/>
                          </a:solidFill>
                        </a:rPr>
                        <a:t>Brokern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D3D3D"/>
                          </a:solidFill>
                        </a:rPr>
                        <a:t>Skickar till alla som prenumererar på abbjetmus/chat — även webbsidan själv (därför syns din bubbla)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EBEBEB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3D3D3D"/>
                          </a:solidFill>
                        </a:rPr>
                        <a:t>3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D3D3D"/>
                          </a:solidFill>
                        </a:rPr>
                        <a:t>ESP:n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D3D3D"/>
                          </a:solidFill>
                        </a:rPr>
                        <a:t>Läser "message", tänder lampan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3D3D3D"/>
                          </a:solidFill>
                        </a:rPr>
                        <a:t>4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D3D3D"/>
                          </a:solidFill>
                        </a:rPr>
                        <a:t>ESP:n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D3D3D"/>
                          </a:solidFill>
                        </a:rPr>
                        <a:t>Publicerar {"user":"esp8266","message":"Lampan är PÅ"}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EBEBEB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3D3D3D"/>
                          </a:solidFill>
                        </a:rPr>
                        <a:t>5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D3D3D"/>
                          </a:solidFill>
                        </a:rPr>
                        <a:t>Webbsidan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3D3D3D"/>
                          </a:solidFill>
                        </a:rPr>
                        <a:t>Visar ESP:ns svar som en bubbla från "esp8266"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Title 1"/>
          <p:cNvSpPr txBox="1"/>
          <p:nvPr>
            <p:ph type="title"/>
          </p:nvPr>
        </p:nvSpPr>
        <p:spPr>
          <a:xfrm>
            <a:off x="575894" y="729657"/>
            <a:ext cx="11029616" cy="988334"/>
          </a:xfrm>
          <a:prstGeom prst="rect">
            <a:avLst/>
          </a:prstGeom>
        </p:spPr>
        <p:txBody>
          <a:bodyPr/>
          <a:lstStyle/>
          <a:p>
            <a:pPr/>
            <a:r>
              <a:t>Vanliga fel</a:t>
            </a:r>
          </a:p>
        </p:txBody>
      </p:sp>
      <p:graphicFrame>
        <p:nvGraphicFramePr>
          <p:cNvPr id="275" name="Table 2"/>
          <p:cNvGraphicFramePr/>
          <p:nvPr/>
        </p:nvGraphicFramePr>
        <p:xfrm>
          <a:off x="581025" y="1965100"/>
          <a:ext cx="11029950" cy="3760000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4800000"/>
                <a:gridCol w="6229950"/>
              </a:tblGrid>
              <a:tr h="47000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Symptom</a:t>
                      </a:r>
                    </a:p>
                  </a:txBody>
                  <a:tcPr marL="30000" marR="30000" marT="30000" marB="3000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Trolig orsak</a:t>
                      </a:r>
                    </a:p>
                  </a:txBody>
                  <a:tcPr marL="30000" marR="30000" marT="30000" marB="30000" anchor="t" anchorCtr="0" horzOverflow="overflow"/>
                </a:tc>
              </a:tr>
              <a:tr h="47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3D3D3D"/>
                          </a:solidFill>
                        </a:rPr>
                        <a:t>ESP:n loggar "Connecting to MQTT…" i all oändlighet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3D3D3D"/>
                          </a:solidFill>
                        </a:rPr>
                        <a:t>Fel broker-adress/port, eller WiFi utan internet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3D3D3D"/>
                          </a:solidFill>
                        </a:rPr>
                        <a:t>ESP:n ansluter men reagerar inte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3D3D3D"/>
                          </a:solidFill>
                        </a:rPr>
                        <a:t>Fel topic (stavning, skiftläge, prefix) — eller subscribe() i setup()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EBEBEB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3D3D3D"/>
                          </a:solidFill>
                        </a:rPr>
                        <a:t>ESP:n kopplar upp och ner hela tiden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3D3D3D"/>
                          </a:solidFill>
                        </a:rPr>
                        <a:t>Någon annan har samma clientId — eller delay() i loop()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3D3D3D"/>
                          </a:solidFill>
                        </a:rPr>
                        <a:t>Webbsidan: inget händer, inget fel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3D3D3D"/>
                          </a:solidFill>
                        </a:rPr>
                        <a:t>CSP blockerar, eller ws:// på en https-sida. Öppna konsolen (F12)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EBEBEB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3D3D3D"/>
                          </a:solidFill>
                        </a:rPr>
                        <a:t>Webbsidan visar [object Uint8Array]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3D3D3D"/>
                          </a:solidFill>
                        </a:rPr>
                        <a:t>Glömt payload.toString()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3D3D3D"/>
                          </a:solidFill>
                        </a:rPr>
                        <a:t>Jag får andras meddelanden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3D3D3D"/>
                          </a:solidFill>
                        </a:rPr>
                        <a:t>Du prenumererar på # eller saknar eget prefix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EBEBEB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3D3D3D"/>
                          </a:solidFill>
                        </a:rPr>
                        <a:t>Meddelanden kommer dubbelt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3D3D3D"/>
                          </a:solidFill>
                        </a:rPr>
                        <a:t>Två flikar öppna, eller programmet startat två gånger</a:t>
                      </a:r>
                    </a:p>
                  </a:txBody>
                  <a:tcPr marL="30000" marR="30000" marT="30000" marB="30000" anchor="t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Title 1"/>
          <p:cNvSpPr txBox="1"/>
          <p:nvPr>
            <p:ph type="title"/>
          </p:nvPr>
        </p:nvSpPr>
        <p:spPr>
          <a:xfrm>
            <a:off x="581193" y="729657"/>
            <a:ext cx="11029616" cy="988334"/>
          </a:xfrm>
          <a:prstGeom prst="rect">
            <a:avLst/>
          </a:prstGeom>
        </p:spPr>
        <p:txBody>
          <a:bodyPr/>
          <a:lstStyle/>
          <a:p>
            <a:pPr/>
            <a:r>
              <a:t>Säkerhet — på skolans broker och på riktigt</a:t>
            </a:r>
          </a:p>
        </p:txBody>
      </p:sp>
      <p:sp>
        <p:nvSpPr>
          <p:cNvPr id="278" name="Content Placeholder 2"/>
          <p:cNvSpPr txBox="1"/>
          <p:nvPr>
            <p:ph type="body" sz="half" idx="1"/>
          </p:nvPr>
        </p:nvSpPr>
        <p:spPr>
          <a:xfrm>
            <a:off x="581193" y="2228002"/>
            <a:ext cx="5422390" cy="3633048"/>
          </a:xfrm>
          <a:prstGeom prst="rect">
            <a:avLst/>
          </a:prstGeom>
        </p:spPr>
        <p:txBody>
          <a:bodyPr/>
          <a:lstStyle/>
          <a:p>
            <a:pPr>
              <a:defRPr b="1">
                <a:solidFill>
                  <a:schemeClr val="accent1"/>
                </a:solidFill>
              </a:defRPr>
            </a:pPr>
            <a:r>
              <a:t>Skolans broker (öppen)</a:t>
            </a:r>
          </a:p>
          <a:p>
            <a:pPr>
              <a:spcBef>
                <a:spcPts val="300"/>
              </a:spcBef>
              <a:defRPr sz="1600"/>
            </a:pPr>
            <a:r>
              <a:t>Ingen inloggning, ingen kryptering på 1883/9001</a:t>
            </a:r>
          </a:p>
          <a:p>
            <a:pPr>
              <a:spcBef>
                <a:spcPts val="300"/>
              </a:spcBef>
              <a:defRPr sz="1600"/>
            </a:pPr>
            <a:r>
              <a:t>Vem som helst på internet kan läsa och skriva alla topics</a:t>
            </a:r>
          </a:p>
          <a:p>
            <a:pPr>
              <a:spcBef>
                <a:spcPts val="300"/>
              </a:spcBef>
              <a:defRPr sz="1600"/>
            </a:pPr>
            <a:r>
              <a:t>Medvetet: enkelt att komma igång</a:t>
            </a:r>
          </a:p>
          <a:p>
            <a:pPr>
              <a:spcBef>
                <a:spcPts val="300"/>
              </a:spcBef>
              <a:defRPr b="1" sz="1600"/>
            </a:pPr>
            <a:r>
              <a:t>Skicka aldrig lösenord eller personuppgifter</a:t>
            </a:r>
          </a:p>
          <a:p>
            <a:pPr>
              <a:spcBef>
                <a:spcPts val="300"/>
              </a:spcBef>
              <a:defRPr b="1" sz="1600"/>
            </a:pPr>
            <a:r>
              <a:t>Styr inget som gör skada om någon annan skickar "on"</a:t>
            </a:r>
          </a:p>
        </p:txBody>
      </p:sp>
      <p:sp>
        <p:nvSpPr>
          <p:cNvPr id="279" name="Content Placeholder 3"/>
          <p:cNvSpPr txBox="1"/>
          <p:nvPr/>
        </p:nvSpPr>
        <p:spPr>
          <a:xfrm>
            <a:off x="6234136" y="2228002"/>
            <a:ext cx="5330953" cy="3633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 marL="305999" indent="-305999">
              <a:spcBef>
                <a:spcPts val="600"/>
              </a:spcBef>
              <a:buClr>
                <a:schemeClr val="accent2"/>
              </a:buClr>
              <a:buSzPct val="92000"/>
              <a:buChar char="◼"/>
              <a:defRPr b="1">
                <a:solidFill>
                  <a:schemeClr val="accent1"/>
                </a:solidFill>
              </a:defRPr>
            </a:pPr>
            <a:r>
              <a:t>Ett riktigt system</a:t>
            </a:r>
            <a:endParaRPr>
              <a:solidFill>
                <a:srgbClr val="3D3D3D"/>
              </a:solidFill>
            </a:endParaRPr>
          </a:p>
          <a:p>
            <a:pPr marL="305999" indent="-305999">
              <a:spcBef>
                <a:spcPts val="300"/>
              </a:spcBef>
              <a:buClr>
                <a:schemeClr val="accent2"/>
              </a:buClr>
              <a:buSzPct val="92000"/>
              <a:buChar char="◼"/>
              <a:defRPr sz="1600">
                <a:solidFill>
                  <a:srgbClr val="3D3D3D"/>
                </a:solidFill>
              </a:defRPr>
            </a:pPr>
            <a:r>
              <a:t>Användarnamn/lösenord per enhet</a:t>
            </a:r>
          </a:p>
          <a:p>
            <a:pPr marL="305999" indent="-305999">
              <a:spcBef>
                <a:spcPts val="300"/>
              </a:spcBef>
              <a:buClr>
                <a:schemeClr val="accent2"/>
              </a:buClr>
              <a:buSzPct val="92000"/>
              <a:buChar char="◼"/>
              <a:defRPr sz="1600">
                <a:solidFill>
                  <a:srgbClr val="3D3D3D"/>
                </a:solidFill>
              </a:defRPr>
            </a:pPr>
            <a:r>
              <a:t>TLS: mqtts:// (8883) och wss:// (443)</a:t>
            </a:r>
          </a:p>
          <a:p>
            <a:pPr marL="305999" indent="-305999">
              <a:spcBef>
                <a:spcPts val="300"/>
              </a:spcBef>
              <a:buClr>
                <a:schemeClr val="accent2"/>
              </a:buClr>
              <a:buSzPct val="92000"/>
              <a:buChar char="◼"/>
              <a:defRPr sz="1600">
                <a:solidFill>
                  <a:srgbClr val="3D3D3D"/>
                </a:solidFill>
              </a:defRPr>
            </a:pPr>
            <a:r>
              <a:t>ACL: varje klient får bara sina topics</a:t>
            </a:r>
          </a:p>
          <a:p>
            <a:pPr marL="305999" indent="-305999">
              <a:spcBef>
                <a:spcPts val="300"/>
              </a:spcBef>
              <a:buClr>
                <a:schemeClr val="accent2"/>
              </a:buClr>
              <a:buSzPct val="92000"/>
              <a:buChar char="◼"/>
              <a:defRPr sz="1600">
                <a:solidFill>
                  <a:srgbClr val="3D3D3D"/>
                </a:solidFill>
              </a:defRPr>
            </a:pPr>
            <a:r>
              <a:t>Last will + status-topic för att se vad som är online</a:t>
            </a:r>
          </a:p>
          <a:p>
            <a:pPr marL="305999" indent="-305999">
              <a:spcBef>
                <a:spcPts val="300"/>
              </a:spcBef>
              <a:buClr>
                <a:schemeClr val="accent2"/>
              </a:buClr>
              <a:buSzPct val="92000"/>
              <a:buChar char="◼"/>
              <a:defRPr sz="1600">
                <a:solidFill>
                  <a:srgbClr val="3D3D3D"/>
                </a:solidFill>
              </a:defRPr>
            </a:pPr>
            <a:r>
              <a:t>Mosquitto stödjer allt detta — se mosquitto-broker/ i repot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Title 1"/>
          <p:cNvSpPr txBox="1"/>
          <p:nvPr>
            <p:ph type="title"/>
          </p:nvPr>
        </p:nvSpPr>
        <p:spPr>
          <a:xfrm>
            <a:off x="581192" y="702155"/>
            <a:ext cx="11029616" cy="1013802"/>
          </a:xfrm>
          <a:prstGeom prst="rect">
            <a:avLst/>
          </a:prstGeom>
        </p:spPr>
        <p:txBody>
          <a:bodyPr/>
          <a:lstStyle/>
          <a:p>
            <a:pPr/>
            <a:r>
              <a:t>Resurser</a:t>
            </a:r>
          </a:p>
        </p:txBody>
      </p:sp>
      <p:sp>
        <p:nvSpPr>
          <p:cNvPr id="284" name="Content Placeholder 2"/>
          <p:cNvSpPr txBox="1"/>
          <p:nvPr>
            <p:ph type="body" idx="1"/>
          </p:nvPr>
        </p:nvSpPr>
        <p:spPr>
          <a:xfrm>
            <a:off x="581191" y="2180495"/>
            <a:ext cx="11029617" cy="3678304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400"/>
              </a:spcBef>
              <a:defRPr b="1" sz="1600"/>
            </a:pPr>
            <a:r>
              <a:t>Repot: github.com/abbindustrigymnasium/driverbot-abbjetmus — README med allt från den här genomgången</a:t>
            </a:r>
          </a:p>
          <a:p>
            <a:pPr>
              <a:spcBef>
                <a:spcPts val="400"/>
              </a:spcBef>
              <a:defRPr sz="1600"/>
            </a:pPr>
            <a:r>
              <a:t>MQTT Essentials (HiveMQ) — hivemq.com/mqtt-essentials — bästa genomgången av protokollet</a:t>
            </a:r>
          </a:p>
          <a:p>
            <a:pPr>
              <a:spcBef>
                <a:spcPts val="400"/>
              </a:spcBef>
              <a:defRPr sz="1600"/>
            </a:pPr>
            <a:r>
              <a:t>mqtt.org — specifikation och bibliotekslista</a:t>
            </a:r>
          </a:p>
          <a:p>
            <a:pPr>
              <a:spcBef>
                <a:spcPts val="400"/>
              </a:spcBef>
              <a:defRPr sz="1600"/>
            </a:pPr>
            <a:r>
              <a:t>MQTT.js — github.com/mqttjs/MQTT.js</a:t>
            </a:r>
          </a:p>
          <a:p>
            <a:pPr>
              <a:spcBef>
                <a:spcPts val="400"/>
              </a:spcBef>
              <a:defRPr sz="1600"/>
            </a:pPr>
            <a:r>
              <a:t>EspMQTTClient — github.com/plapointe6/EspMQTTClient</a:t>
            </a:r>
          </a:p>
          <a:p>
            <a:pPr>
              <a:spcBef>
                <a:spcPts val="400"/>
              </a:spcBef>
              <a:defRPr sz="1600"/>
            </a:pPr>
            <a:r>
              <a:t>MQTTX — mqttx.app — grafisk testklient</a:t>
            </a:r>
          </a:p>
          <a:p>
            <a:pPr>
              <a:spcBef>
                <a:spcPts val="400"/>
              </a:spcBef>
              <a:defRPr sz="1600"/>
            </a:pPr>
            <a:r>
              <a:t>Video: "MQTT förklarat på 10 minuter" — youtube.com/watch?v=f4JmhGBsRkQ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Dividend">
  <a:themeElements>
    <a:clrScheme name="Dividend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0000FF"/>
      </a:hlink>
      <a:folHlink>
        <a:srgbClr val="FF00FF"/>
      </a:folHlink>
    </a:clrScheme>
    <a:fontScheme name="Dividend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5400" dir="5400000">
              <a:srgbClr val="000000">
                <a:alpha val="55000"/>
              </a:srgbClr>
            </a:outerShdw>
          </a:effectLst>
        </a:effectStyle>
        <a:effectStyle>
          <a:effectLst>
            <a:outerShdw sx="100000" sy="100000" kx="0" ky="0" algn="b" rotWithShape="0" blurRad="38100" dist="25400" dir="5400000">
              <a:srgbClr val="000000">
                <a:alpha val="55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2225" cap="rnd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5400" dir="5400000">
            <a:srgbClr val="000000">
              <a:alpha val="5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Gill Sans MT"/>
            <a:ea typeface="Gill Sans MT"/>
            <a:cs typeface="Gill Sans MT"/>
            <a:sym typeface="Gill Sans 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2225" cap="rnd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Gill Sans MT"/>
            <a:ea typeface="Gill Sans MT"/>
            <a:cs typeface="Gill Sans MT"/>
            <a:sym typeface="Gill Sans 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Dividend">
  <a:themeElements>
    <a:clrScheme name="Dividend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0000FF"/>
      </a:hlink>
      <a:folHlink>
        <a:srgbClr val="FF00FF"/>
      </a:folHlink>
    </a:clrScheme>
    <a:fontScheme name="Dividend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5400" dir="5400000">
              <a:srgbClr val="000000">
                <a:alpha val="55000"/>
              </a:srgbClr>
            </a:outerShdw>
          </a:effectLst>
        </a:effectStyle>
        <a:effectStyle>
          <a:effectLst>
            <a:outerShdw sx="100000" sy="100000" kx="0" ky="0" algn="b" rotWithShape="0" blurRad="38100" dist="25400" dir="5400000">
              <a:srgbClr val="000000">
                <a:alpha val="55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2225" cap="rnd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5400" dir="5400000">
            <a:srgbClr val="000000">
              <a:alpha val="5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Gill Sans MT"/>
            <a:ea typeface="Gill Sans MT"/>
            <a:cs typeface="Gill Sans MT"/>
            <a:sym typeface="Gill Sans 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2225" cap="rnd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Gill Sans MT"/>
            <a:ea typeface="Gill Sans MT"/>
            <a:cs typeface="Gill Sans MT"/>
            <a:sym typeface="Gill Sans 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