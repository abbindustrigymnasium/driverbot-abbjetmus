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23"/>
  </p:notesMasterIdLst>
  <p:handoutMasterIdLst>
    <p:handoutMasterId r:id="rId24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11"/>
    <p:sldId id="268" r:id="rId10"/>
    <p:sldId id="269" r:id="rId9"/>
    <p:sldId id="270" r:id="rId8"/>
    <p:sldId id="271" r:id="rId7"/>
    <p:sldId id="27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4F30B-45E3-4C6D-B566-2C665D8E35F9}" v="1" dt="2026-04-24T11:50:48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48" autoAdjust="0"/>
  </p:normalViewPr>
  <p:slideViewPr>
    <p:cSldViewPr snapToGrid="0">
      <p:cViewPr varScale="1">
        <p:scale>
          <a:sx n="98" d="100"/>
          <a:sy n="98" d="100"/>
        </p:scale>
        <p:origin x="21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44646B-21C0-410B-BA17-64C59EB292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89392C-F5C5-4C38-94CE-455C7F402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29A4FD-FAFB-4CDA-9DC5-D20CA18269A9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2F3D2C-86D2-4CEA-B1B8-750885E16DD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D5F72-69F2-4B4B-A943-B04C4B1E36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EBA49-8001-49C3-9348-7448336215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9060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91E35E-F34C-4F0E-B8A1-D9F5F49CB3AD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F15BC-4AA1-41C4-8C26-91A7E3BB93D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467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Genomgång av MQTT för Driverbot- och IoT-projekten. Repot: github.com/abbindustrigymnasium/driverbot-abbjetmus. Demon längst bak (chatt + lampa) kräver skolans broker igång och en flashad ESP8266.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Fråga klassen: hur skulle en webbsida få veta att en sensor ändrats med HTTP? (Polla — fråga om och om igen.) MQTT vänder på det: sensorn säger till.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Kärnbilden. Betona att brokern inte bryr sig om innehållet — bara topic-strängen.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mosquitto_sub -t "fornamn/#" -v i en terminal, publicera från en annan.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Brokern är en Eclipse Mosquitto 2 på CapRover. Konfigurationen ligger i repot under mosquitto-broker/. Ingen inloggning: medvetet för enkelhet. Klienter som ändå skickar användarnamn/lösenord accepteras.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Hela sketchen med chatt-svar finns i mqtt_arduino.ino i repot.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Quasar-varianten med återanslutning och status finns i quasar-mqtt/src/boot/mqtt-boot.js.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Live-demo: kör quasar dev, flasha ESP:n, skriv on/off/status i chatten. Poängen: samma topic, tre klienter, ingen vet om den andra.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 diskussionsfråga: vad kan gå fel om en robotdammsugares MQTT-broker är öppen?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1100000"/>
            <a:ext cx="107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5CBE8"/>
                </a:solidFill>
              </a:rPr>
              <a:t>HITACHIGYMNASIET  ·  PROGRAMMERING &amp;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50000"/>
            <a:ext cx="107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</a:rPr>
              <a:t>MQTT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650000"/>
            <a:ext cx="107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Så pratar saker med varandra — från Arduino och webbsida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000" y="4200000"/>
            <a:ext cx="2600000" cy="9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Arduino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3600000" y="4450000"/>
            <a:ext cx="1300000" cy="400000"/>
          </a:xfrm>
          <a:prstGeom prst="leftRightArrow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1883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00000" y="4050000"/>
            <a:ext cx="2200000" cy="12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1A3260"/>
                </a:solidFill>
              </a:rPr>
              <a:t>Broker</a:t>
            </a:r>
          </a:p>
          <a:p>
            <a:pPr algn="ctr"/>
            <a:r>
              <a:rPr sz="1300" b="0">
                <a:solidFill>
                  <a:srgbClr val="1A3260"/>
                </a:solidFill>
              </a:rPr>
              <a:t>mqtt-broker.cloud.mustini.com</a:t>
            </a:r>
          </a:p>
        </p:txBody>
      </p:sp>
      <p:sp>
        <p:nvSpPr>
          <p:cNvPr id="9" name="Left-Right Arrow 8"/>
          <p:cNvSpPr/>
          <p:nvPr/>
        </p:nvSpPr>
        <p:spPr>
          <a:xfrm>
            <a:off x="7300000" y="4450000"/>
            <a:ext cx="1300000" cy="400000"/>
          </a:xfrm>
          <a:prstGeom prst="leftRightArrow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9001 / 443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00000" y="4200000"/>
            <a:ext cx="2600000" cy="9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Webbsida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MQTT.js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Varför inte bara HTTP?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4200000"/>
                <a:gridCol w="4229950"/>
              </a:tblGrid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HTTP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MQTT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D3D3D"/>
                          </a:solidFill>
                        </a:rPr>
                        <a:t>Modell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Fråga–svar: klienten frågar, servern svarar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Publicera–prenumerera via en broker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D3D3D"/>
                          </a:solidFill>
                        </a:rPr>
                        <a:t>Vem startar?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Alltid klienten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Vem som helst, när som helst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D3D3D"/>
                          </a:solidFill>
                        </a:rPr>
                        <a:t>Anslutning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Ny för varje fråga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En öppen anslutning hela tiden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D3D3D"/>
                          </a:solidFill>
                        </a:rPr>
                        <a:t>Overhead per meddelande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Hundratals byte headers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2 byte + topic + data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D3D3D"/>
                          </a:solidFill>
                        </a:rPr>
                        <a:t>Många mottagare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Servern skickar till var och 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Brokern gör det åt dig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D3D3D"/>
                          </a:solidFill>
                        </a:rPr>
                        <a:t>Passar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Webbsidor, API:er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D3D3D"/>
                          </a:solidFill>
                        </a:rPr>
                        <a:t>Sensorer, styrning, chatt, händelser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400000"/>
            <a:ext cx="1102995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Skapat 1999 för att övervaka oljeledningar via satellit — byggt för dåliga nät och små enheter. En ESP8266 håller en MQTT-anslutning öppen i veckor och skickar ett värde var tionde sekund utan att märka det.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 roller: publisher, broker, subscriber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1800000"/>
            <a:ext cx="2500000" cy="8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Publisher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ESP8266: temperatur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1025" y="3000000"/>
            <a:ext cx="2500000" cy="8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Publisher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Webbsida: knapp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31025" y="2050000"/>
            <a:ext cx="17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fornamn/temp = 23.5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31025" y="3250000"/>
            <a:ext cx="17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fornamn/lampa = on</a:t>
            </a:r>
          </a:p>
        </p:txBody>
      </p:sp>
      <p:sp>
        <p:nvSpPr>
          <p:cNvPr id="7" name="Oval 6"/>
          <p:cNvSpPr/>
          <p:nvPr/>
        </p:nvSpPr>
        <p:spPr>
          <a:xfrm>
            <a:off x="4881025" y="1800000"/>
            <a:ext cx="2400000" cy="200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A3260"/>
                </a:solidFill>
              </a:rPr>
              <a:t>BROKER</a:t>
            </a:r>
          </a:p>
          <a:p>
            <a:pPr algn="ctr"/>
            <a:r>
              <a:rPr sz="1100">
                <a:solidFill>
                  <a:srgbClr val="1A3260"/>
                </a:solidFill>
              </a:rPr>
              <a:t>matchar topic → skickar vidare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31025" y="2050000"/>
            <a:ext cx="17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fornamn/temp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331025" y="3250000"/>
            <a:ext cx="17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fornamn/lampa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81025" y="1800000"/>
            <a:ext cx="2500000" cy="8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Subscriber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Webbsida: visar 23.5 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1025" y="3000000"/>
            <a:ext cx="2500000" cy="8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Subscriber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ESP8266: tänder lampan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4300000"/>
            <a:ext cx="1102995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Ingen ansluter till någon annan — alla ansluter till brokern. Avsändare och mottagare vet inget om varandra; de känner bara till broker-adressen och topic-namnet.</a:t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>Samma klient kan vara både publisher och subscriber (ESP:n här gör båda). En tredje klient — Python, ROS2, en telefon — kan läggas till utan att något annat ändras.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Topics — kanalerna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1800000"/>
            <a:ext cx="5200000" cy="1500000"/>
          </a:xfrm>
          <a:prstGeom prst="roundRect">
            <a:avLst>
              <a:gd name="adj" fmla="val 4000"/>
            </a:avLst>
          </a:prstGeom>
          <a:solidFill>
            <a:srgbClr val="1E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10000" bIns="110000"/>
          <a:lstStyle/>
          <a:p>
            <a:pPr algn="l"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nsolas"/>
              </a:rPr>
              <a:t>fornamn/bil/hastighet</a:t>
            </a:r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nsolas"/>
              </a:rPr>
              <a:t>fornamn/bil/avstand</a:t>
            </a:r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nsolas"/>
              </a:rPr>
              <a:t>fornamn/hem/kok/temp</a:t>
            </a:r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nsolas"/>
              </a:rPr>
              <a:t>fornamn/chat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1025" y="1750000"/>
            <a:ext cx="552995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/>
              <a:t>•  En textsträng med nivåer separerade av /</a:t>
            </a:r>
          </a:p>
          <a:p>
            <a:pPr>
              <a:spcAft>
                <a:spcPts val="400"/>
              </a:spcAft>
            </a:pPr>
            <a:r>
              <a:rPr sz="1500" b="0"/>
              <a:t>•  Skiftlägeskänsligt: Lampa ≠ lampa</a:t>
            </a:r>
          </a:p>
          <a:p>
            <a:pPr>
              <a:spcAft>
                <a:spcPts val="400"/>
              </a:spcAft>
            </a:pPr>
            <a:r>
              <a:rPr sz="1500" b="0"/>
              <a:t>•  Behöver inte skapas — första publiceringen räcker</a:t>
            </a:r>
          </a:p>
          <a:p>
            <a:pPr>
              <a:spcAft>
                <a:spcPts val="400"/>
              </a:spcAft>
            </a:pPr>
            <a:r>
              <a:rPr sz="1500" b="0"/>
              <a:t>•  Inga mellanslag, börja inte med /</a:t>
            </a:r>
          </a:p>
          <a:p>
            <a:pPr>
              <a:spcAft>
                <a:spcPts val="400"/>
              </a:spcAft>
            </a:pPr>
            <a:r>
              <a:rPr sz="1500" b="1"/>
              <a:t>•  Alltid ditt eget prefix först — brokern är delad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1025" y="3650000"/>
          <a:ext cx="1102995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4400000"/>
                <a:gridCol w="372995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Prenumeration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Matchar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Matchar inte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  <a:latin typeface="Consolas"/>
                        </a:rPr>
                        <a:t>fornamn/bil/hastighet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exakt det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allt annat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  <a:latin typeface="Consolas"/>
                        </a:rPr>
                        <a:t>fornamn/bil/+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fornamn/bil/hastighet, fornamn/bil/avstand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fornamn/bil/motor/varv (två nivåer)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  <a:latin typeface="Consolas"/>
                        </a:rPr>
                        <a:t>fornamn/#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allt under fornamn/, alla nivåer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annan/…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  <a:latin typeface="Consolas"/>
                        </a:rPr>
                        <a:t>#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ALLT på brokern (bara för felsökning)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—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1025" y="590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3260"/>
                </a:solidFill>
              </a:rPr>
              <a:t>+ ersätter en nivå, # ersätter resten och får bara stå sist. Wildcards fungerar bara när man prenumererar.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Meddelandet (payload)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Ren text — ett värde</a:t>
            </a:r>
          </a:p>
          <a:p>
            <a:r>
              <a:rPr sz="1500">
                <a:latin typeface="Consolas"/>
              </a:rPr>
              <a:t>fornamn/temp  →  23.5</a:t>
            </a:r>
          </a:p>
          <a:p>
            <a:r>
              <a:rPr sz="1500">
                <a:latin typeface="Consolas"/>
              </a:rPr>
              <a:t>fornamn/lampa  →  on</a:t>
            </a:r>
          </a:p>
          <a:p>
            <a:r>
              <a:rPr sz="1500">
                <a:latin typeface="Consolas"/>
              </a:rPr>
              <a:t>fornamn/bil/cmd  →  600,-30</a:t>
            </a:r>
          </a:p>
          <a:p>
            <a:r>
              <a:rPr sz="1400" i="1"/>
              <a:t>Enklast. Räcker för det mesta.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JSON — flera fält</a:t>
            </a:r>
          </a:p>
          <a:p>
            <a:r>
              <a:rPr sz="1500">
                <a:latin typeface="Consolas"/>
              </a:rPr>
              <a:t>fornamn/chat  →</a:t>
            </a:r>
          </a:p>
          <a:p>
            <a:r>
              <a:rPr sz="1500">
                <a:latin typeface="Consolas"/>
              </a:rPr>
              <a:t>{"user": "salle",</a:t>
            </a:r>
          </a:p>
          <a:p>
            <a:r>
              <a:rPr sz="1500">
                <a:latin typeface="Consolas"/>
              </a:rPr>
              <a:t> "message": "Hej!"}</a:t>
            </a:r>
          </a:p>
          <a:p>
            <a:r>
              <a:rPr sz="1400" i="1"/>
              <a:t>Webb: JSON.stringify / JSON.parse. ESP: strängar eller ArduinoJson.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1025" y="4700000"/>
            <a:ext cx="1102995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Brokern tolkar aldrig innehållet — det är bara bytes. Håll det litet: skicka 23.5, inte "Temperaturen är just nu 23.5 grader". En ESP8266 har 40 kB RAM.</a:t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>Retain-flaggan: brokern sparar senaste meddelandet på ett topic, så en klient som ansluter senare får "läget just nu" direkt.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Anslutningen: vad klienten säger till brokern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/>
                <a:gridCol w="4900000"/>
                <a:gridCol w="38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Inställning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Vad det är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Vad du ska välja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clientId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Klientens namn på brokern. Måste vara unikt.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fornamn-esp, fornamn-webb-&lt;slumptal&gt;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keep-alive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Hur ofta klienten pingar så brokern vet att den lever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Standard (15–60 s) räcker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clean session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true = börja om varje gång. false = brokern köar medan du är borta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true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last will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Meddelande brokern skickar åt dig om du försvinner utan att koppla ner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fornamn/status = offline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användare / lösenord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Inloggning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Skolans broker: inget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10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Biblioteken återansluter automatiskt när WiFi hackar — men prenumerationerna måste göras om. Därför ligger subscribe() i onConnectionEstablished() på ESP:n och i client.on("connect") på webben — aldrig i setup().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Två klienter med samma clientId sparkar ut varandra i en oändlig loop. Vanligaste "mystiska" felet.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QoS och transport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00000"/>
          <a:ext cx="5300000" cy="1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2500000"/>
                <a:gridCol w="220000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QoS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Betyder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Använd till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0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Skicka och glöm. Snabbast, kan tappas.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Sensorvärden som kommer igen snart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1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 minst en gång (kan dubbleras)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Kommandon: lampa on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2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 exakt en gång. Långsammast.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Sällan i skolan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81025" y="1800000"/>
          <a:ext cx="542995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700000"/>
                <a:gridCol w="282995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Adress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Port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Vem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  <a:latin typeface="Consolas"/>
                        </a:rPr>
                        <a:t>mqtt://host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1883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ESP8266, Python, mosquitto_pub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  <a:latin typeface="Consolas"/>
                        </a:rPr>
                        <a:t>mqtts://host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8883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Samma, med TLS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  <a:latin typeface="Consolas"/>
                        </a:rPr>
                        <a:t>ws://host:9001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9001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Webbläsare på http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  <a:latin typeface="Consolas"/>
                        </a:rPr>
                        <a:t>wss://host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443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Webbläsare på https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1025" y="4200000"/>
            <a:ext cx="1102995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Standard är QoS 0 i alla bibliotek och det räcker nästan alltid.</a:t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/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>Webbläsare kan inte öppna vanliga TCP-anslutningar — därför WebSockets. Och en sida laddad över https får inte öppna ws:// ("mixed content"). Det är orsak nummer ett till "det fungerar lokalt men inte på GitHub Pages": där måste det vara wss://.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Skolans broker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2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5400000"/>
                <a:gridCol w="2029950"/>
              </a:tblGrid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Klient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Adress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Inloggning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ESP8266 / Arduino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</a:rPr>
                        <a:t>mqtt-broker.cloud.mustini.com`  port 1883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Webbsida på http (quasar dev, Live Server)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</a:rPr>
                        <a:t>ws://mqtt-broker.cloud.mustini.com:9001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Webbsida på https (GitHub Pages)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</a:rPr>
                        <a:t>wss://mqtt-broker.cloud.mustini.com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Terminal / MQTTX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</a:rPr>
                        <a:t>mqtt-broker.cloud.mustini.com:1883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81025" y="4350000"/>
            <a:ext cx="3550000" cy="13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1. Eget prefix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fornamn/… på alla topics.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Annars blandas ni ihop.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81025" y="4350000"/>
            <a:ext cx="3550000" cy="13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2. Unikt clientId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Per klient och flik.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Annars sparkar ni ut varandra.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81025" y="4350000"/>
            <a:ext cx="3550000" cy="13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3. Inget känsligt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Alla på internet kan läsa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och skriva allt.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Arduino / ESP8266: ansluta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1750000"/>
            <a:ext cx="6900000" cy="3900000"/>
          </a:xfrm>
          <a:prstGeom prst="roundRect">
            <a:avLst>
              <a:gd name="adj" fmla="val 4000"/>
            </a:avLst>
          </a:prstGeom>
          <a:solidFill>
            <a:srgbClr val="1E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10000" bIns="110000"/>
          <a:lstStyle/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#include "EspMQTTClient.h"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EspMQTTClient client(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"Hitachigymnasiet_2.4", "wifi-lösenord",   // WiFi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"mqtt-broker.cloud.mustini.com",            // broker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"", "",                                     // användare, lösenord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"fornamn-esp",                              // clientId – unikt!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1883                                        // port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setup() {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Serial.begin(115200);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pinMode(LED_BUILTIN, OUTPUT);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client.enableDebuggingMessages();  // status i Serial Monitor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loop() {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client.loop();   // hela tiden – inga delay()!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31025" y="1750000"/>
            <a:ext cx="387995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/>
              <a:t>•  Bibliotek: EspMQTTClient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Library Manager → sök "EspMQTTClient". Drar in PubSubClient.</a:t>
            </a:r>
          </a:p>
          <a:p>
            <a:pPr>
              <a:spcAft>
                <a:spcPts val="400"/>
              </a:spcAft>
            </a:pPr>
            <a:r>
              <a:rPr sz="1400" b="1"/>
              <a:t>•  Sköter åt dig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WiFi-anslutning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Broker-anslutning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Återanslutning när nätet hackar</a:t>
            </a:r>
          </a:p>
          <a:p>
            <a:pPr>
              <a:spcAft>
                <a:spcPts val="400"/>
              </a:spcAft>
            </a:pPr>
            <a:r>
              <a:rPr sz="1400" b="1"/>
              <a:t>•  client.loop() i loop()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Det är där paket tas emot. En delay(1000) = tappad anslutning.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Arduino / ESP8266: prenumerera och publicera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1750000"/>
            <a:ext cx="6900000" cy="3600000"/>
          </a:xfrm>
          <a:prstGeom prst="roundRect">
            <a:avLst>
              <a:gd name="adj" fmla="val 4000"/>
            </a:avLst>
          </a:prstGeom>
          <a:solidFill>
            <a:srgbClr val="1E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10000" bIns="110000"/>
          <a:lstStyle/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// Körs varje gång vi (åter)ansluter till brokern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onConnectionEstablished() {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  // Prenumerera: lambdan körs för varje meddelande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client.subscribe("fornamn/lampa", [](const String&amp; payload) {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Serial.println("Fick: " + payload);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digitalWrite(LED_BUILTIN, payload == "on" ? LOW : HIGH);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});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  // Publicera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client.publish("fornamn/status", "online");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  // Publicera om 5 sekunder utan delay()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client.executeDelayed(5000, []() {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client.publish("fornamn/temp", String(23.5));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});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31025" y="1750000"/>
            <a:ext cx="387995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/>
              <a:t>•  subscribe i onConnectionEstablished()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Inte i setup() — där finns ingen anslutning än.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Görs om automatiskt vid återanslutning.</a:t>
            </a:r>
          </a:p>
          <a:p>
            <a:pPr>
              <a:spcAft>
                <a:spcPts val="400"/>
              </a:spcAft>
            </a:pPr>
            <a:r>
              <a:rPr sz="1400" b="1"/>
              <a:t>•  payload är en String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Jämför med ==, eller .toInt() / .toFloat().</a:t>
            </a:r>
          </a:p>
          <a:p>
            <a:pPr>
              <a:spcAft>
                <a:spcPts val="400"/>
              </a:spcAft>
            </a:pPr>
            <a:r>
              <a:rPr sz="1400" b="1"/>
              <a:t>•  Inbyggda LED:en lyser vid LOW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Klassisk fälla på ESP8266.</a:t>
            </a:r>
          </a:p>
          <a:p>
            <a:pPr>
              <a:spcAft>
                <a:spcPts val="400"/>
              </a:spcAft>
            </a:pPr>
            <a:r>
              <a:rPr sz="1400" b="1"/>
              <a:t>•  Publicera lagom ofta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10 ggr/s är fint. 1000 ggr/s är det inte.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Webbsida: MQTT.js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1750000"/>
            <a:ext cx="6900000" cy="3900000"/>
          </a:xfrm>
          <a:prstGeom prst="roundRect">
            <a:avLst>
              <a:gd name="adj" fmla="val 4000"/>
            </a:avLst>
          </a:prstGeom>
          <a:solidFill>
            <a:srgbClr val="1E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10000" bIns="110000"/>
          <a:lstStyle/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&lt;script src="https://unpkg.com/mqtt/dist/mqtt.min.js"&gt;&lt;/script&gt;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&lt;script&gt;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// ws:// på http-sidor, wss:// på https-sidor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const url = location.protocol === 'https:'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? 'wss://mqtt-broker.cloud.mustini.com'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: 'ws://mqtt-broker.cloud.mustini.com:9001'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const client = mqtt.connect(url, {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clientId: 'fornamn-webb-' + Math.random().toString(16).slice(2, 8)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})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client.on('connect', () =&gt; client.subscribe('fornamn/#'))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client.on('message', (topic, payload) =&gt; {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console.log(topic, payload.toString())   // bytes → sträng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})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knapp.onclick = () =&gt; client.publish('fornamn/lampa', 'on')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31025" y="1750000"/>
            <a:ext cx="387995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/>
              <a:t>•  Samma bibliotek i Node och webbläsare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CDN i vanlig HTML, npm install mqtt i Vite/Quasar</a:t>
            </a:r>
          </a:p>
          <a:p>
            <a:pPr>
              <a:spcAft>
                <a:spcPts val="400"/>
              </a:spcAft>
            </a:pPr>
            <a:r>
              <a:rPr sz="1400" b="1"/>
              <a:t>•  payload.toString()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Annars får du en Uint8Array.</a:t>
            </a:r>
          </a:p>
          <a:p>
            <a:pPr>
              <a:spcAft>
                <a:spcPts val="400"/>
              </a:spcAft>
            </a:pPr>
            <a:r>
              <a:rPr sz="1400" b="1"/>
              <a:t>•  Unikt clientId per flik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Två flikar med samma id = oändlig återanslutning.</a:t>
            </a:r>
          </a:p>
          <a:p>
            <a:pPr>
              <a:spcAft>
                <a:spcPts val="400"/>
              </a:spcAft>
            </a:pPr>
            <a:r>
              <a:rPr sz="1400" b="1"/>
              <a:t>•  Content-Security-Policy</a:t>
            </a:r>
          </a:p>
          <a:p>
            <a:pPr lvl="1">
              <a:spcAft>
                <a:spcPts val="400"/>
              </a:spcAft>
            </a:pPr>
            <a:r>
              <a:rPr sz="1200" b="0"/>
              <a:t>      –  Har sidan en CSP måste brokern stå under connect-src, annars blockeras det tyst. Kolla konsolen (F12).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Exempel i repot: chatten styr lampan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2100000"/>
            <a:ext cx="2600000" cy="10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Webbsida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quasar-mqtt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31025" y="2250000"/>
            <a:ext cx="20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abbjetmus/chat</a:t>
            </a:r>
          </a:p>
        </p:txBody>
      </p:sp>
      <p:sp>
        <p:nvSpPr>
          <p:cNvPr id="5" name="Left Arrow 4"/>
          <p:cNvSpPr/>
          <p:nvPr/>
        </p:nvSpPr>
        <p:spPr>
          <a:xfrm>
            <a:off x="3231025" y="2650000"/>
            <a:ext cx="2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abbjetmus/chat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1025" y="2000000"/>
            <a:ext cx="1900000" cy="12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1A3260"/>
                </a:solidFill>
              </a:rPr>
              <a:t>Broker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231025" y="2250000"/>
            <a:ext cx="20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abbjetmus/chat</a:t>
            </a:r>
          </a:p>
        </p:txBody>
      </p:sp>
      <p:sp>
        <p:nvSpPr>
          <p:cNvPr id="8" name="Left Arrow 7"/>
          <p:cNvSpPr/>
          <p:nvPr/>
        </p:nvSpPr>
        <p:spPr>
          <a:xfrm>
            <a:off x="7231025" y="2650000"/>
            <a:ext cx="2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abbjetmus/chat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025" y="2100000"/>
            <a:ext cx="2330000" cy="10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mqtt_arduino.ino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81025" y="3600000"/>
          <a:ext cx="1102995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1500000"/>
                <a:gridCol w="882995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Steg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Vem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Vad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1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Webbsidan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Du skriver "on" → publicerar {"user":"salle","message":"on"}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2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Brokern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Skickar till alla som prenumererar på abbjetmus/chat — även webbsidan själv (därför syns din bubbla)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3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ESP:n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Läser "message", tänder lampan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4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ESP:n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Publicerar {"user":"esp8266","message":"Lampan är PÅ"}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5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Webbsidan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Visar ESP:ns svar som en bubbla från "esp8266"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Testa och felsök: terminal → ESP → webbsida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1750000"/>
            <a:ext cx="11029950" cy="1900000"/>
          </a:xfrm>
          <a:prstGeom prst="roundRect">
            <a:avLst>
              <a:gd name="adj" fmla="val 4000"/>
            </a:avLst>
          </a:prstGeom>
          <a:solidFill>
            <a:srgbClr val="1E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10000" bIns="110000"/>
          <a:lstStyle/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# Installera: macOS  brew install mosquitto     Ubuntu/WSL  sudo apt install mosquitto-clients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# Terminal 1 – lyssna på allt under ditt prefix (-v visar topic)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mosquitto_sub -h mqtt-broker.cloud.mustini.com -t "fornamn/#" -v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9CDCFE"/>
                </a:solidFill>
                <a:latin typeface="Consolas"/>
              </a:rPr>
              <a:t># Terminal 2 – skicka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mosquitto_pub -h mqtt-broker.cloud.mustini.com -t fornamn/lampa -m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1025" y="3900000"/>
            <a:ext cx="3500000" cy="15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1. Terminal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Fungerar mosquitto_sub/pub?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Då är brokern okej.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31025" y="4500000"/>
            <a:ext cx="5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81025" y="3900000"/>
            <a:ext cx="3500000" cy="15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2. ESP8266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Serial Monitor: "MQTT ansluten"?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Syns dess publish i terminalen?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8231025" y="4500000"/>
            <a:ext cx="500000" cy="30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81025" y="3900000"/>
            <a:ext cx="2830000" cy="15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3. Webbsida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Konsolen (F12):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CSP? ws/wss? toString()?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555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3260"/>
                </a:solidFill>
              </a:rPr>
              <a:t>Grafiskt alternativ: MQTTX eller MQTT Explorer — anslut till mqtt-broker.cloud.mustini.com:1883 och prenumerera på fornamn/#.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Vanliga fel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00000"/>
          <a:ext cx="11029950" cy="3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000"/>
                <a:gridCol w="6229950"/>
              </a:tblGrid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Trolig orsak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ESP:n loggar "Connecting to MQTT…" i all oändlighet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Fel broker-adress/port, eller WiFi utan internet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ESP:n ansluter men reagerar inte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Fel topic (stavning, skiftläge, prefix) — eller subscribe() i setup()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ESP:n kopplar upp och ner hela tiden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Någon annan har samma clientId — eller delay() i loop()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Webbsidan: inget händer, inget fel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CSP blockerar, eller ws:// på en https-sida. Öppna konsolen (F12)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Webbsidan visar [object Uint8Array]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Glömt payload.toString()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Jag får andras meddelanden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Du prenumererar på # eller saknar eget prefix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Meddelanden kommer dubbelt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Två flikar öppna, eller programmet startat två gånger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Säkerhet — på skolans broker och på riktigt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Skolans broker (öppen)</a:t>
            </a:r>
          </a:p>
          <a:p>
            <a:pPr>
              <a:spcAft>
                <a:spcPts val="300"/>
              </a:spcAft>
            </a:pPr>
            <a:r>
              <a:rPr b="0" sz="1600"/>
              <a:t>Ingen inloggning, ingen kryptering på 1883/9001</a:t>
            </a:r>
          </a:p>
          <a:p>
            <a:pPr>
              <a:spcAft>
                <a:spcPts val="300"/>
              </a:spcAft>
            </a:pPr>
            <a:r>
              <a:rPr b="0" sz="1600"/>
              <a:t>Vem som helst på internet kan läsa och skriva alla topics</a:t>
            </a:r>
          </a:p>
          <a:p>
            <a:pPr>
              <a:spcAft>
                <a:spcPts val="300"/>
              </a:spcAft>
            </a:pPr>
            <a:r>
              <a:rPr b="0" sz="1600"/>
              <a:t>Medvetet: enkelt att komma igång</a:t>
            </a:r>
          </a:p>
          <a:p>
            <a:pPr>
              <a:spcAft>
                <a:spcPts val="300"/>
              </a:spcAft>
            </a:pPr>
            <a:r>
              <a:rPr b="1" sz="1600"/>
              <a:t>Skicka aldrig lösenord eller personuppgifter</a:t>
            </a:r>
          </a:p>
          <a:p>
            <a:pPr>
              <a:spcAft>
                <a:spcPts val="300"/>
              </a:spcAft>
            </a:pPr>
            <a:r>
              <a:rPr b="1" sz="1600"/>
              <a:t>Styr inget som gör skada om någon annan skickar "on"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Ett riktigt system</a:t>
            </a:r>
          </a:p>
          <a:p>
            <a:pPr>
              <a:spcAft>
                <a:spcPts val="300"/>
              </a:spcAft>
            </a:pPr>
            <a:r>
              <a:rPr b="0" sz="1600"/>
              <a:t>Användarnamn/lösenord per enhet</a:t>
            </a:r>
          </a:p>
          <a:p>
            <a:pPr>
              <a:spcAft>
                <a:spcPts val="300"/>
              </a:spcAft>
            </a:pPr>
            <a:r>
              <a:rPr b="0" sz="1600"/>
              <a:t>TLS: mqtts:// (8883) och wss:// (443)</a:t>
            </a:r>
          </a:p>
          <a:p>
            <a:pPr>
              <a:spcAft>
                <a:spcPts val="300"/>
              </a:spcAft>
            </a:pPr>
            <a:r>
              <a:rPr b="0" sz="1600"/>
              <a:t>ACL: varje klient får bara sina topics</a:t>
            </a:r>
          </a:p>
          <a:p>
            <a:pPr>
              <a:spcAft>
                <a:spcPts val="300"/>
              </a:spcAft>
            </a:pPr>
            <a:r>
              <a:rPr b="0" sz="1600"/>
              <a:t>Last will + status-topic för att se vad som är online</a:t>
            </a:r>
          </a:p>
          <a:p>
            <a:pPr>
              <a:spcAft>
                <a:spcPts val="300"/>
              </a:spcAft>
            </a:pPr>
            <a:r>
              <a:rPr b="0" sz="1600"/>
              <a:t>Mosquitto stödjer allt detta — se mosquitto-broker/ i repot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Övningar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/>
              <a:t>1. Terminal → terminal.  mosquitto_sub på fornamn/# i en terminal, mosquitto_pub från en annan. Testa + och #.</a:t>
            </a:r>
          </a:p>
          <a:p>
            <a:pPr>
              <a:spcAft>
                <a:spcPts val="400"/>
              </a:spcAft>
            </a:pPr>
            <a:r>
              <a:rPr sz="1600" b="1"/>
              <a:t>2. Terminal → ESP.  Flasha mqtt_arduino.ino med ditt prefix. Tänd lampan från terminalen.</a:t>
            </a:r>
          </a:p>
          <a:p>
            <a:pPr>
              <a:spcAft>
                <a:spcPts val="400"/>
              </a:spcAft>
            </a:pPr>
            <a:r>
              <a:rPr sz="1600" b="1"/>
              <a:t>3. ESP → webbsida.  Låt ESP:n publicera ett värde (millis(), en sensor) var 5:e sekund. Visa det på en HTML-sida med MQTT.js.</a:t>
            </a:r>
          </a:p>
          <a:p>
            <a:pPr>
              <a:spcAft>
                <a:spcPts val="400"/>
              </a:spcAft>
            </a:pPr>
            <a:r>
              <a:rPr sz="1600" b="1"/>
              <a:t>4. Webbsida → ESP.  Två knappar: on/off. Lägg till retain så en ny flik visar rätt läge direkt.</a:t>
            </a:r>
          </a:p>
          <a:p>
            <a:pPr>
              <a:spcAft>
                <a:spcPts val="400"/>
              </a:spcAft>
            </a:pPr>
            <a:r>
              <a:rPr sz="1600" b="1"/>
              <a:t>5. Status.  Last will på fornamn/status = offline, online vid anslutning. Visa "ESP online/offline" på sidan.</a:t>
            </a:r>
          </a:p>
          <a:p>
            <a:pPr>
              <a:spcAft>
                <a:spcPts val="400"/>
              </a:spcAft>
            </a:pPr>
            <a:r>
              <a:rPr sz="1600" b="1"/>
              <a:t>6. Utmaning.  En Python-klient (paho-mqtt) som loggar allt under ditt prefix till en fil med tidsstämpel.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/>
              <a:t>Repot: github.com/abbindustrigymnasium/driverbot-abbjetmus — README med allt från den här genomgången</a:t>
            </a:r>
          </a:p>
          <a:p>
            <a:pPr>
              <a:spcAft>
                <a:spcPts val="400"/>
              </a:spcAft>
            </a:pPr>
            <a:r>
              <a:rPr sz="1600" b="0"/>
              <a:t>MQTT Essentials (HiveMQ) — hivemq.com/mqtt-essentials — bästa genomgången av protokollet</a:t>
            </a:r>
          </a:p>
          <a:p>
            <a:pPr>
              <a:spcAft>
                <a:spcPts val="400"/>
              </a:spcAft>
            </a:pPr>
            <a:r>
              <a:rPr sz="1600" b="0"/>
              <a:t>mqtt.org — specifikation och bibliotekslista</a:t>
            </a:r>
          </a:p>
          <a:p>
            <a:pPr>
              <a:spcAft>
                <a:spcPts val="400"/>
              </a:spcAft>
            </a:pPr>
            <a:r>
              <a:rPr sz="1600" b="0"/>
              <a:t>MQTT.js — github.com/mqttjs/MQTT.js</a:t>
            </a:r>
          </a:p>
          <a:p>
            <a:pPr>
              <a:spcAft>
                <a:spcPts val="400"/>
              </a:spcAft>
            </a:pPr>
            <a:r>
              <a:rPr sz="1600" b="0"/>
              <a:t>EspMQTTClient — github.com/plapointe6/EspMQTTClient</a:t>
            </a:r>
          </a:p>
          <a:p>
            <a:pPr>
              <a:spcAft>
                <a:spcPts val="400"/>
              </a:spcAft>
            </a:pPr>
            <a:r>
              <a:rPr sz="1600" b="0"/>
              <a:t>MQTTX — mqttx.app — grafisk testklient</a:t>
            </a:r>
          </a:p>
          <a:p>
            <a:pPr>
              <a:spcAft>
                <a:spcPts val="400"/>
              </a:spcAft>
            </a:pPr>
            <a:r>
              <a:rPr sz="1600" b="0"/>
              <a:t>Video: "MQTT förklarat på 10 minuter" — youtube.com/watch?v=f4JmhGBsRkQ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C68885E555CCD40A8EFF7FDEADEE9FB" ma:contentTypeVersion="7" ma:contentTypeDescription="Skapa ett nytt dokument." ma:contentTypeScope="" ma:versionID="edf8cb209cfa5439cec87e9b6b47f7ff">
  <xsd:schema xmlns:xsd="http://www.w3.org/2001/XMLSchema" xmlns:xs="http://www.w3.org/2001/XMLSchema" xmlns:p="http://schemas.microsoft.com/office/2006/metadata/properties" xmlns:ns2="767771d7-1bac-4e43-8b6e-e0cd049664e0" targetNamespace="http://schemas.microsoft.com/office/2006/metadata/properties" ma:root="true" ma:fieldsID="76704a4ffd869791d19f64eb1285ab1d" ns2:_="">
    <xsd:import namespace="767771d7-1bac-4e43-8b6e-e0cd049664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7771d7-1bac-4e43-8b6e-e0cd049664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8812E69-AC53-43AE-A9F5-27A82028DC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7771d7-1bac-4e43-8b6e-e0cd049664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FC8A1C-A436-42C0-AC33-FAFFFAF219B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5C8BF1-B0E4-49A1-808F-40F2AD30E743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767771d7-1bac-4e43-8b6e-e0cd049664e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Bredbild</PresentationFormat>
  <Paragraphs>88</Paragraphs>
  <Slides>18</Slides>
  <Notes>16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18</vt:i4>
      </vt:variant>
    </vt:vector>
  </HeadingPairs>
  <TitlesOfParts>
    <vt:vector size="22" baseType="lpstr">
      <vt:lpstr>Calibri</vt:lpstr>
      <vt:lpstr>Gill Sans MT</vt:lpstr>
      <vt:lpstr>Wingdings 2</vt:lpstr>
      <vt:lpstr>Dividend</vt:lpstr>
      <vt:lpstr>DriverBot</vt:lpstr>
      <vt:lpstr>Förkunskaper som Finns</vt:lpstr>
      <vt:lpstr>E-nivå</vt:lpstr>
      <vt:lpstr>C-nivå</vt:lpstr>
      <vt:lpstr>A-nivå</vt:lpstr>
      <vt:lpstr>Vart ska saker ligga?</vt:lpstr>
      <vt:lpstr>DriverBot Kod genomgång</vt:lpstr>
      <vt:lpstr>Ordning</vt:lpstr>
      <vt:lpstr>MQTT</vt:lpstr>
      <vt:lpstr>Mikrokontrol</vt:lpstr>
      <vt:lpstr>Hemsida</vt:lpstr>
      <vt:lpstr>Egen Hemsida</vt:lpstr>
      <vt:lpstr>PowerPoint-presentation</vt:lpstr>
      <vt:lpstr>Att tänka på</vt:lpstr>
      <vt:lpstr>Competitive Landscape</vt:lpstr>
      <vt:lpstr>Digital Communications</vt:lpstr>
      <vt:lpstr>Thank You</vt:lpstr>
      <vt:lpstr>RobotBil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Robotbil</dc:title>
  <dc:creator/>
  <cp:lastModifiedBy/>
  <cp:revision>19</cp:revision>
  <dcterms:created xsi:type="dcterms:W3CDTF">2020-02-12T13:43:58Z</dcterms:created>
  <dcterms:modified xsi:type="dcterms:W3CDTF">2026-04-24T11:51:00Z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0x010100FC68885E555CCD40A8EFF7FDEADEE9FB</vt:lpwstr>
  </property>
  <property fmtid="{D5CDD505-2E9C-101B-9397-08002B2CF9AE}" pid="3" name="MediaServiceImageTags">
    <vt:lpwstr/>
  </property>
</Properties>
</file>